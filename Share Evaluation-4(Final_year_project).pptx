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5" r:id="rId3"/>
    <p:sldId id="303" r:id="rId4"/>
    <p:sldId id="290" r:id="rId5"/>
    <p:sldId id="304" r:id="rId6"/>
    <p:sldId id="296" r:id="rId7"/>
    <p:sldId id="305" r:id="rId8"/>
    <p:sldId id="306" r:id="rId9"/>
    <p:sldId id="297" r:id="rId10"/>
    <p:sldId id="309" r:id="rId11"/>
    <p:sldId id="298" r:id="rId12"/>
    <p:sldId id="291" r:id="rId13"/>
    <p:sldId id="299" r:id="rId14"/>
    <p:sldId id="292" r:id="rId15"/>
    <p:sldId id="300" r:id="rId16"/>
    <p:sldId id="301" r:id="rId17"/>
    <p:sldId id="302" r:id="rId18"/>
    <p:sldId id="307" r:id="rId19"/>
    <p:sldId id="308" r:id="rId20"/>
    <p:sldId id="310" r:id="rId21"/>
    <p:sldId id="26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71" d="100"/>
          <a:sy n="71" d="100"/>
        </p:scale>
        <p:origin x="696" y="54"/>
      </p:cViewPr>
      <p:guideLst>
        <p:guide orient="horz" pos="2159"/>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56101AA-7DF0-4A5D-8FD6-F7F168CAC562}"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6101AA-7DF0-4A5D-8FD6-F7F168CAC562}"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56101AA-7DF0-4A5D-8FD6-F7F168CAC562}"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6101AA-7DF0-4A5D-8FD6-F7F168CAC562}" type="datetimeFigureOut">
              <a:rPr lang="en-US" smtClean="0"/>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6101AA-7DF0-4A5D-8FD6-F7F168CAC562}" type="datetimeFigureOut">
              <a:rPr lang="en-US" smtClean="0"/>
              <a:t>11/21/2024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6101AA-7DF0-4A5D-8FD6-F7F168CAC562}" type="datetimeFigureOut">
              <a:rPr lang="en-US" smtClean="0"/>
              <a:t>11/21/2024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6101AA-7DF0-4A5D-8FD6-F7F168CAC562}" type="datetimeFigureOut">
              <a:rPr lang="en-US" smtClean="0"/>
              <a:t>11/21/2024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56101AA-7DF0-4A5D-8FD6-F7F168CAC562}" type="datetimeFigureOut">
              <a:rPr lang="en-US" smtClean="0"/>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56101AA-7DF0-4A5D-8FD6-F7F168CAC562}" type="datetimeFigureOut">
              <a:rPr lang="en-US" smtClean="0"/>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6101AA-7DF0-4A5D-8FD6-F7F168CAC562}"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6101AA-7DF0-4A5D-8FD6-F7F168CAC562}"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3FE99-77AD-4592-A048-80FD36C8F97A}" type="slidenum">
              <a:rPr lang="en-US" smtClean="0"/>
              <a:t>‹#›</a:t>
            </a:fld>
            <a:endParaRPr 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101AA-7DF0-4A5D-8FD6-F7F168CAC562}" type="datetimeFigureOut">
              <a:rPr lang="en-US" smtClean="0"/>
              <a:t>11/21/2024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33FE99-77AD-4592-A048-80FD36C8F97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p:cNvSpPr>
            <a:spLocks noGrp="1"/>
          </p:cNvSpPr>
          <p:nvPr>
            <p:ph type="ctrTitle"/>
          </p:nvPr>
        </p:nvSpPr>
        <p:spPr>
          <a:xfrm>
            <a:off x="1536375" y="1853737"/>
            <a:ext cx="9144000" cy="1276621"/>
          </a:xfrm>
        </p:spPr>
        <p:txBody>
          <a:bodyPr>
            <a:normAutofit/>
          </a:bodyPr>
          <a:lstStyle/>
          <a:p>
            <a:pPr defTabSz="374650">
              <a:spcAft>
                <a:spcPts val="600"/>
              </a:spcAft>
            </a:pPr>
            <a:r>
              <a:rPr lang="en-US" sz="2400" b="1" dirty="0" err="1">
                <a:solidFill>
                  <a:srgbClr val="000000"/>
                </a:solidFill>
                <a:latin typeface="Times New Roman" panose="02020603050405020304" pitchFamily="18" charset="0"/>
                <a:ea typeface="Times New Roman"/>
                <a:cs typeface="Times New Roman" panose="02020603050405020304" pitchFamily="18" charset="0"/>
                <a:sym typeface="Times New Roman"/>
              </a:rPr>
              <a:t>B.Tech</a:t>
            </a:r>
            <a:r>
              <a:rPr lang="en-US" sz="2400" b="1" dirty="0">
                <a:solidFill>
                  <a:srgbClr val="000000"/>
                </a:solidFill>
                <a:latin typeface="Times New Roman" panose="02020603050405020304" pitchFamily="18" charset="0"/>
                <a:ea typeface="Times New Roman"/>
                <a:cs typeface="Times New Roman" panose="02020603050405020304" pitchFamily="18" charset="0"/>
                <a:sym typeface="Times New Roman"/>
              </a:rPr>
              <a:t> External Project Evaluation ,</a:t>
            </a:r>
            <a:r>
              <a:rPr lang="en-US" sz="2400" b="1" dirty="0" err="1">
                <a:solidFill>
                  <a:srgbClr val="000000"/>
                </a:solidFill>
                <a:latin typeface="Times New Roman" panose="02020603050405020304" pitchFamily="18" charset="0"/>
                <a:ea typeface="Times New Roman"/>
                <a:cs typeface="Times New Roman" panose="02020603050405020304" pitchFamily="18" charset="0"/>
                <a:sym typeface="Times New Roman"/>
              </a:rPr>
              <a:t>VIIth</a:t>
            </a:r>
            <a:r>
              <a:rPr lang="en-US" sz="2400" b="1" dirty="0">
                <a:solidFill>
                  <a:srgbClr val="000000"/>
                </a:solidFill>
                <a:latin typeface="Times New Roman" panose="02020603050405020304" pitchFamily="18" charset="0"/>
                <a:ea typeface="Times New Roman"/>
                <a:cs typeface="Times New Roman" panose="02020603050405020304" pitchFamily="18" charset="0"/>
                <a:sym typeface="Times New Roman"/>
              </a:rPr>
              <a:t> Sem</a:t>
            </a:r>
            <a:br>
              <a:rPr lang="en-US" sz="2400" b="1" dirty="0">
                <a:solidFill>
                  <a:srgbClr val="000000"/>
                </a:solidFill>
                <a:latin typeface="Times New Roman" panose="02020603050405020304" charset="0"/>
                <a:cs typeface="Times New Roman" panose="02020603050405020304" charset="0"/>
                <a:sym typeface="Times New Roman" panose="02020603050405020304"/>
              </a:rPr>
            </a:br>
            <a:br>
              <a:rPr lang="en-US" sz="2400" b="1" dirty="0">
                <a:solidFill>
                  <a:srgbClr val="000000"/>
                </a:solidFill>
                <a:latin typeface="Times New Roman" panose="02020603050405020304" charset="0"/>
                <a:cs typeface="Times New Roman" panose="02020603050405020304" charset="0"/>
                <a:sym typeface="Times New Roman" panose="02020603050405020304"/>
              </a:rPr>
            </a:br>
            <a:endParaRPr lang="en-US" sz="2400" dirty="0"/>
          </a:p>
        </p:txBody>
      </p:sp>
      <p:sp>
        <p:nvSpPr>
          <p:cNvPr id="19" name="Subtitle 4"/>
          <p:cNvSpPr>
            <a:spLocks noGrp="1"/>
          </p:cNvSpPr>
          <p:nvPr>
            <p:ph type="subTitle" idx="1"/>
          </p:nvPr>
        </p:nvSpPr>
        <p:spPr>
          <a:xfrm>
            <a:off x="1536375" y="3005664"/>
            <a:ext cx="9144000" cy="438607"/>
          </a:xfrm>
        </p:spPr>
        <p:txBody>
          <a:bodyPr>
            <a:noAutofit/>
          </a:bodyPr>
          <a:lstStyle/>
          <a:p>
            <a:r>
              <a:rPr lang="en-US" sz="2800" b="1" dirty="0" err="1">
                <a:latin typeface="Times New Roman" panose="02020603050405020304" charset="0"/>
                <a:cs typeface="Times New Roman" panose="02020603050405020304" charset="0"/>
              </a:rPr>
              <a:t>TuneTalk</a:t>
            </a:r>
            <a:r>
              <a:rPr lang="en-US" sz="2800" b="1" dirty="0">
                <a:latin typeface="Times New Roman" panose="02020603050405020304" charset="0"/>
                <a:cs typeface="Times New Roman" panose="02020603050405020304" charset="0"/>
              </a:rPr>
              <a:t>: Fusion of Music and Integrated Voice Communication</a:t>
            </a:r>
          </a:p>
        </p:txBody>
      </p:sp>
      <p:pic>
        <p:nvPicPr>
          <p:cNvPr id="20" name="Google Shape;182;p1"/>
          <p:cNvPicPr preferRelativeResize="0"/>
          <p:nvPr/>
        </p:nvPicPr>
        <p:blipFill rotWithShape="1">
          <a:blip r:embed="rId2"/>
          <a:srcRect l="35533"/>
          <a:stretch>
            <a:fillRect/>
          </a:stretch>
        </p:blipFill>
        <p:spPr>
          <a:xfrm>
            <a:off x="4044432" y="161872"/>
            <a:ext cx="3792901" cy="1599790"/>
          </a:xfrm>
          <a:prstGeom prst="rect">
            <a:avLst/>
          </a:prstGeom>
          <a:noFill/>
          <a:ln>
            <a:noFill/>
          </a:ln>
        </p:spPr>
      </p:pic>
      <p:sp>
        <p:nvSpPr>
          <p:cNvPr id="21" name="Google Shape;177;p1"/>
          <p:cNvSpPr/>
          <p:nvPr/>
        </p:nvSpPr>
        <p:spPr>
          <a:xfrm>
            <a:off x="743194" y="4019455"/>
            <a:ext cx="4888854" cy="1340418"/>
          </a:xfrm>
          <a:prstGeom prst="rect">
            <a:avLst/>
          </a:prstGeom>
          <a:noFill/>
          <a:ln>
            <a:noFill/>
          </a:ln>
        </p:spPr>
        <p:txBody>
          <a:bodyPr spcFirstLastPara="1" wrap="square" lIns="90000" tIns="45000" rIns="90000" bIns="45000" anchor="t" anchorCtr="0">
            <a:noAutofit/>
          </a:bodyPr>
          <a:lstStyle/>
          <a:p>
            <a:pPr defTabSz="374650">
              <a:spcAft>
                <a:spcPts val="600"/>
              </a:spcAft>
            </a:pPr>
            <a:r>
              <a:rPr lang="en-US" sz="1475" b="1" kern="1200" dirty="0">
                <a:solidFill>
                  <a:schemeClr val="tx1"/>
                </a:solidFill>
                <a:latin typeface="Times New Roman" panose="02020603050405020304" charset="0"/>
                <a:ea typeface="+mn-ea"/>
                <a:cs typeface="Times New Roman" panose="02020603050405020304" charset="0"/>
                <a:sym typeface="Georgia" panose="02040502050405020303"/>
              </a:rPr>
              <a:t>Presented by :</a:t>
            </a:r>
          </a:p>
          <a:p>
            <a:pPr defTabSz="374650">
              <a:spcAft>
                <a:spcPts val="600"/>
              </a:spcAft>
            </a:pPr>
            <a:r>
              <a:rPr lang="en-US" sz="1500" b="1" dirty="0">
                <a:latin typeface="Times New Roman" panose="02020603050405020304" charset="0"/>
                <a:cs typeface="Times New Roman" panose="02020603050405020304" charset="0"/>
                <a:sym typeface="Georgia" panose="02040502050405020303"/>
              </a:rPr>
              <a:t>Viney </a:t>
            </a:r>
            <a:r>
              <a:rPr lang="en-US" sz="1500" b="1" dirty="0" err="1">
                <a:latin typeface="Times New Roman" panose="02020603050405020304" charset="0"/>
                <a:cs typeface="Times New Roman" panose="02020603050405020304" charset="0"/>
                <a:sym typeface="Georgia" panose="02040502050405020303"/>
              </a:rPr>
              <a:t>Chillar</a:t>
            </a:r>
            <a:r>
              <a:rPr lang="en-US" sz="1500" b="1" dirty="0">
                <a:latin typeface="Times New Roman" panose="02020603050405020304" charset="0"/>
                <a:cs typeface="Times New Roman" panose="02020603050405020304" charset="0"/>
                <a:sym typeface="Georgia" panose="02040502050405020303"/>
              </a:rPr>
              <a:t>	</a:t>
            </a:r>
            <a:r>
              <a:rPr lang="en-US" sz="1500" b="1" kern="1200" dirty="0">
                <a:solidFill>
                  <a:schemeClr val="tx1"/>
                </a:solidFill>
                <a:latin typeface="Times New Roman" panose="02020603050405020304" charset="0"/>
                <a:ea typeface="+mn-ea"/>
                <a:cs typeface="Times New Roman" panose="02020603050405020304" charset="0"/>
                <a:sym typeface="Georgia" panose="02040502050405020303"/>
              </a:rPr>
              <a:t>(2021511307)</a:t>
            </a:r>
            <a:br>
              <a:rPr lang="en-US" sz="1500" b="1" kern="1200" dirty="0">
                <a:solidFill>
                  <a:schemeClr val="tx1"/>
                </a:solidFill>
                <a:latin typeface="Times New Roman" panose="02020603050405020304" charset="0"/>
                <a:ea typeface="+mn-ea"/>
                <a:cs typeface="Times New Roman" panose="02020603050405020304" charset="0"/>
                <a:sym typeface="Georgia" panose="02040502050405020303"/>
              </a:rPr>
            </a:br>
            <a:r>
              <a:rPr lang="en-US" sz="1500" b="1" dirty="0" err="1">
                <a:latin typeface="Times New Roman" panose="02020603050405020304" charset="0"/>
                <a:cs typeface="Times New Roman" panose="02020603050405020304" charset="0"/>
                <a:sym typeface="Georgia" panose="02040502050405020303"/>
              </a:rPr>
              <a:t>Shivam</a:t>
            </a:r>
            <a:r>
              <a:rPr lang="en-US" sz="1500" b="1" dirty="0">
                <a:latin typeface="Times New Roman" panose="02020603050405020304" charset="0"/>
                <a:cs typeface="Times New Roman" panose="02020603050405020304" charset="0"/>
                <a:sym typeface="Georgia" panose="02040502050405020303"/>
              </a:rPr>
              <a:t> </a:t>
            </a:r>
            <a:r>
              <a:rPr lang="en-US" sz="1500" b="1" dirty="0" err="1">
                <a:latin typeface="Times New Roman" panose="02020603050405020304" charset="0"/>
                <a:cs typeface="Times New Roman" panose="02020603050405020304" charset="0"/>
                <a:sym typeface="Georgia" panose="02040502050405020303"/>
              </a:rPr>
              <a:t>Dhunotiya</a:t>
            </a:r>
            <a:r>
              <a:rPr lang="en-US" sz="1500" b="1" dirty="0">
                <a:latin typeface="Times New Roman" panose="02020603050405020304" charset="0"/>
                <a:cs typeface="Times New Roman" panose="02020603050405020304" charset="0"/>
                <a:sym typeface="Georgia" panose="02040502050405020303"/>
              </a:rPr>
              <a:t> (2021003129)</a:t>
            </a:r>
          </a:p>
          <a:p>
            <a:pPr defTabSz="374650">
              <a:spcAft>
                <a:spcPts val="600"/>
              </a:spcAft>
            </a:pPr>
            <a:r>
              <a:rPr lang="en-US" sz="1500" b="1" dirty="0" err="1">
                <a:latin typeface="Times New Roman" panose="02020603050405020304" charset="0"/>
                <a:cs typeface="Times New Roman" panose="02020603050405020304" charset="0"/>
                <a:sym typeface="Georgia" panose="02040502050405020303"/>
              </a:rPr>
              <a:t>Omama</a:t>
            </a:r>
            <a:r>
              <a:rPr lang="en-US" sz="1500" b="1" dirty="0">
                <a:latin typeface="Times New Roman" panose="02020603050405020304" charset="0"/>
                <a:cs typeface="Times New Roman" panose="02020603050405020304" charset="0"/>
                <a:sym typeface="Georgia" panose="02040502050405020303"/>
              </a:rPr>
              <a:t> Beg	(2021513778)</a:t>
            </a:r>
          </a:p>
          <a:p>
            <a:pPr defTabSz="749935">
              <a:spcAft>
                <a:spcPts val="600"/>
              </a:spcAft>
              <a:defRPr/>
            </a:pPr>
            <a:endParaRPr lang="en-US" sz="1500" b="1" dirty="0">
              <a:latin typeface="Times New Roman" panose="02020603050405020304" charset="0"/>
              <a:cs typeface="Times New Roman" panose="02020603050405020304" charset="0"/>
              <a:sym typeface="Georgia" panose="02040502050405020303"/>
            </a:endParaRPr>
          </a:p>
          <a:p>
            <a:pPr defTabSz="749935">
              <a:spcAft>
                <a:spcPts val="600"/>
              </a:spcAft>
              <a:defRPr/>
            </a:pPr>
            <a:r>
              <a:rPr lang="en-US" sz="1475" b="1" dirty="0">
                <a:latin typeface="Times New Roman" panose="02020603050405020304" charset="0"/>
                <a:cs typeface="Times New Roman" panose="02020603050405020304" charset="0"/>
              </a:rPr>
              <a:t> </a:t>
            </a:r>
            <a:endParaRPr lang="en-US" sz="1475" dirty="0">
              <a:latin typeface="Times New Roman" panose="02020603050405020304" charset="0"/>
              <a:cs typeface="Times New Roman" panose="02020603050405020304" charset="0"/>
            </a:endParaRPr>
          </a:p>
          <a:p>
            <a:pPr defTabSz="749935">
              <a:spcAft>
                <a:spcPts val="600"/>
              </a:spcAft>
              <a:defRPr/>
            </a:pPr>
            <a:endParaRPr lang="en-US" sz="1475" kern="1200" dirty="0">
              <a:solidFill>
                <a:schemeClr val="tx1"/>
              </a:solidFill>
              <a:latin typeface="Times New Roman" panose="02020603050405020304" charset="0"/>
              <a:ea typeface="+mn-ea"/>
              <a:cs typeface="Times New Roman" panose="02020603050405020304" charset="0"/>
            </a:endParaRPr>
          </a:p>
          <a:p>
            <a:pPr marL="0" marR="0" lvl="0" indent="0" algn="ctr" rtl="0">
              <a:lnSpc>
                <a:spcPct val="100000"/>
              </a:lnSpc>
              <a:spcBef>
                <a:spcPts val="0"/>
              </a:spcBef>
              <a:spcAft>
                <a:spcPts val="600"/>
              </a:spcAft>
              <a:buNone/>
            </a:pPr>
            <a:endParaRPr lang="en-US" sz="1800" b="0" i="0" u="none" strike="noStrike" cap="none" dirty="0">
              <a:solidFill>
                <a:schemeClr val="tx1"/>
              </a:solidFill>
              <a:latin typeface="Times New Roman" panose="02020603050405020304" charset="0"/>
              <a:cs typeface="Times New Roman" panose="02020603050405020304" charset="0"/>
              <a:sym typeface="Arial" panose="020B0604020202020204"/>
            </a:endParaRPr>
          </a:p>
        </p:txBody>
      </p:sp>
      <p:sp>
        <p:nvSpPr>
          <p:cNvPr id="22" name="Google Shape;178;p1"/>
          <p:cNvSpPr/>
          <p:nvPr/>
        </p:nvSpPr>
        <p:spPr>
          <a:xfrm>
            <a:off x="8445546" y="4019804"/>
            <a:ext cx="2615829" cy="694264"/>
          </a:xfrm>
          <a:prstGeom prst="rect">
            <a:avLst/>
          </a:prstGeom>
          <a:noFill/>
          <a:ln>
            <a:noFill/>
          </a:ln>
        </p:spPr>
        <p:txBody>
          <a:bodyPr spcFirstLastPara="1" wrap="square" lIns="90000" tIns="45000" rIns="90000" bIns="45000" anchor="t" anchorCtr="0">
            <a:noAutofit/>
          </a:bodyPr>
          <a:lstStyle/>
          <a:p>
            <a:pPr algn="just" defTabSz="374650">
              <a:spcAft>
                <a:spcPts val="600"/>
              </a:spcAft>
            </a:pPr>
            <a:r>
              <a:rPr lang="en-US" sz="1475" b="1" kern="1200" dirty="0">
                <a:solidFill>
                  <a:srgbClr val="000000"/>
                </a:solidFill>
                <a:latin typeface="Times New Roman" panose="02020603050405020304"/>
                <a:cs typeface="Times New Roman" panose="02020603050405020304"/>
                <a:sym typeface="Times New Roman" panose="02020603050405020304"/>
              </a:rPr>
              <a:t>   Under the Supervision of:-</a:t>
            </a:r>
          </a:p>
          <a:p>
            <a:pPr algn="ctr" defTabSz="374650">
              <a:spcAft>
                <a:spcPts val="600"/>
              </a:spcAft>
            </a:pPr>
            <a:r>
              <a:rPr lang="en-US" sz="1600" b="1" dirty="0" err="1">
                <a:latin typeface="Times New Roman" panose="02020603050405020304" charset="0"/>
                <a:ea typeface="Arial" panose="020B0604020202020204"/>
                <a:cs typeface="Times New Roman" panose="02020603050405020304" charset="0"/>
                <a:sym typeface="PT Sans"/>
              </a:rPr>
              <a:t>Mr. </a:t>
            </a:r>
            <a:r>
              <a:rPr lang="en-US" sz="1600" b="1" dirty="0">
                <a:latin typeface="Times New Roman" panose="02020603050405020304" charset="0"/>
                <a:ea typeface="Arial" panose="020B0604020202020204"/>
                <a:cs typeface="Times New Roman" panose="02020603050405020304" charset="0"/>
                <a:sym typeface="PT Sans"/>
              </a:rPr>
              <a:t>Mohammad </a:t>
            </a:r>
            <a:r>
              <a:rPr lang="en-US" sz="1600" b="1" dirty="0" err="1">
                <a:latin typeface="Times New Roman" panose="02020603050405020304" charset="0"/>
                <a:ea typeface="Arial" panose="020B0604020202020204"/>
                <a:cs typeface="Times New Roman" panose="02020603050405020304" charset="0"/>
                <a:sym typeface="PT Sans"/>
              </a:rPr>
              <a:t>Asim</a:t>
            </a:r>
            <a:endParaRPr lang="en-US" sz="1600" b="1" dirty="0">
              <a:latin typeface="Times New Roman" panose="02020603050405020304" charset="0"/>
              <a:ea typeface="Arial" panose="020B0604020202020204"/>
              <a:cs typeface="Times New Roman" panose="02020603050405020304" charset="0"/>
              <a:sym typeface="PT Sans"/>
            </a:endParaRPr>
          </a:p>
          <a:p>
            <a:pPr algn="ctr" defTabSz="374650">
              <a:spcAft>
                <a:spcPts val="600"/>
              </a:spcAft>
            </a:pPr>
            <a:r>
              <a:rPr lang="en-US" sz="1600" b="1" i="0" u="none" strike="noStrike" cap="none" dirty="0">
                <a:solidFill>
                  <a:schemeClr val="dk1"/>
                </a:solidFill>
                <a:latin typeface="Times New Roman" panose="02020603050405020304" charset="0"/>
                <a:ea typeface="Arial" panose="020B0604020202020204"/>
                <a:cs typeface="Times New Roman" panose="02020603050405020304" charset="0"/>
                <a:sym typeface="PT Sans"/>
              </a:rPr>
              <a:t>Assi</a:t>
            </a:r>
            <a:r>
              <a:rPr lang="en-US" sz="1600" b="1" dirty="0">
                <a:solidFill>
                  <a:schemeClr val="dk1"/>
                </a:solidFill>
                <a:latin typeface="Times New Roman" panose="02020603050405020304" charset="0"/>
                <a:ea typeface="Arial" panose="020B0604020202020204"/>
                <a:cs typeface="Times New Roman" panose="02020603050405020304" charset="0"/>
                <a:sym typeface="PT Sans"/>
              </a:rPr>
              <a:t>stant Professor</a:t>
            </a:r>
            <a:endPar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23" name="Google Shape;176;p1"/>
          <p:cNvSpPr/>
          <p:nvPr/>
        </p:nvSpPr>
        <p:spPr>
          <a:xfrm>
            <a:off x="2216204" y="5289252"/>
            <a:ext cx="7784342" cy="1022628"/>
          </a:xfrm>
          <a:prstGeom prst="rect">
            <a:avLst/>
          </a:prstGeom>
          <a:noFill/>
          <a:ln>
            <a:noFill/>
          </a:ln>
        </p:spPr>
        <p:txBody>
          <a:bodyPr spcFirstLastPara="1" wrap="square" lIns="90000" tIns="45000" rIns="90000" bIns="45000" anchor="t" anchorCtr="0">
            <a:noAutofit/>
          </a:bodyPr>
          <a:lstStyle/>
          <a:p>
            <a:pPr algn="ctr" defTabSz="374650">
              <a:spcAft>
                <a:spcPts val="600"/>
              </a:spcAft>
            </a:pPr>
            <a:r>
              <a:rPr lang="en-US" sz="1805" b="1" kern="1200" dirty="0">
                <a:solidFill>
                  <a:srgbClr val="000000"/>
                </a:solidFill>
                <a:latin typeface="Times New Roman" panose="02020603050405020304"/>
                <a:cs typeface="Times New Roman" panose="02020603050405020304"/>
                <a:sym typeface="Times New Roman" panose="02020603050405020304"/>
              </a:rPr>
              <a:t>DEPARTMENT OF COMPUTER SCIENCE &amp; ENGINEERING</a:t>
            </a:r>
            <a:endParaRPr lang="en-US" sz="1805" b="1" kern="1200" dirty="0">
              <a:solidFill>
                <a:schemeClr val="dk1"/>
              </a:solidFill>
              <a:latin typeface="Arial" panose="020B0604020202020204"/>
              <a:cs typeface="Arial" panose="020B0604020202020204"/>
              <a:sym typeface="Arial" panose="020B0604020202020204"/>
            </a:endParaRPr>
          </a:p>
          <a:p>
            <a:pPr algn="ctr" defTabSz="374650">
              <a:spcAft>
                <a:spcPts val="600"/>
              </a:spcAft>
            </a:pPr>
            <a:r>
              <a:rPr lang="en-US" sz="1805" b="1" kern="1200" dirty="0">
                <a:solidFill>
                  <a:srgbClr val="000000"/>
                </a:solidFill>
                <a:latin typeface="Times New Roman" panose="02020603050405020304"/>
                <a:cs typeface="Times New Roman" panose="02020603050405020304"/>
                <a:sym typeface="Times New Roman" panose="02020603050405020304"/>
              </a:rPr>
              <a:t>SHARDA SCHOOL OF ENGINEERING AND TECHNOLOGY </a:t>
            </a:r>
            <a:endParaRPr lang="en-US" sz="1805" b="1" kern="1200" dirty="0">
              <a:solidFill>
                <a:schemeClr val="dk1"/>
              </a:solidFill>
              <a:latin typeface="Arial" panose="020B0604020202020204"/>
              <a:cs typeface="Arial" panose="020B0604020202020204"/>
              <a:sym typeface="Arial" panose="020B0604020202020204"/>
            </a:endParaRPr>
          </a:p>
          <a:p>
            <a:pPr algn="ctr" defTabSz="374650">
              <a:spcAft>
                <a:spcPts val="600"/>
              </a:spcAft>
            </a:pPr>
            <a:r>
              <a:rPr lang="en-US" sz="1805" b="1" dirty="0">
                <a:solidFill>
                  <a:srgbClr val="000000"/>
                </a:solidFill>
                <a:latin typeface="Times New Roman" panose="02020603050405020304"/>
                <a:cs typeface="Times New Roman" panose="02020603050405020304"/>
                <a:sym typeface="Times New Roman" panose="02020603050405020304"/>
              </a:rPr>
              <a:t>November, </a:t>
            </a:r>
            <a:r>
              <a:rPr lang="en-US" sz="1805" b="1" kern="1200" dirty="0">
                <a:solidFill>
                  <a:srgbClr val="000000"/>
                </a:solidFill>
                <a:latin typeface="Times New Roman" panose="02020603050405020304"/>
                <a:cs typeface="Times New Roman" panose="02020603050405020304"/>
                <a:sym typeface="Times New Roman" panose="02020603050405020304"/>
              </a:rPr>
              <a:t>2024</a:t>
            </a:r>
            <a:endParaRPr lang="en-US" sz="22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charset="0"/>
                <a:cs typeface="Times New Roman" panose="02020603050405020304" charset="0"/>
              </a:rPr>
              <a:t>Agenda</a:t>
            </a:r>
          </a:p>
        </p:txBody>
      </p:sp>
      <p:pic>
        <p:nvPicPr>
          <p:cNvPr id="3" name="Content Placeholder 2" descr="agenda"/>
          <p:cNvPicPr>
            <a:picLocks noGrp="1" noChangeAspect="1"/>
          </p:cNvPicPr>
          <p:nvPr>
            <p:ph sz="half" idx="2"/>
          </p:nvPr>
        </p:nvPicPr>
        <p:blipFill>
          <a:blip r:embed="rId2"/>
          <a:stretch>
            <a:fillRect/>
          </a:stretch>
        </p:blipFill>
        <p:spPr>
          <a:xfrm>
            <a:off x="7691120" y="1932940"/>
            <a:ext cx="3242310" cy="3242310"/>
          </a:xfrm>
          <a:prstGeom prst="rect">
            <a:avLst/>
          </a:prstGeom>
          <a:ln>
            <a:solidFill>
              <a:schemeClr val="tx1"/>
            </a:solidFill>
          </a:ln>
        </p:spPr>
      </p:pic>
      <p:sp>
        <p:nvSpPr>
          <p:cNvPr id="4" name="Content Placeholder 3"/>
          <p:cNvSpPr>
            <a:spLocks noGrp="1"/>
          </p:cNvSpPr>
          <p:nvPr>
            <p:ph sz="half" idx="1"/>
          </p:nvPr>
        </p:nvSpPr>
        <p:spPr>
          <a:xfrm>
            <a:off x="690281" y="1264024"/>
            <a:ext cx="6826625" cy="5712245"/>
          </a:xfrm>
        </p:spPr>
        <p:txBody>
          <a:bodyPr>
            <a:normAutofit fontScale="90000" lnSpcReduction="10000"/>
          </a:bodyPr>
          <a:lstStyle/>
          <a:p>
            <a:pPr algn="l">
              <a:buFont typeface="+mj-lt"/>
              <a:buAutoNum type="arabicPeriod"/>
            </a:pPr>
            <a:r>
              <a:rPr lang="en-US" dirty="0">
                <a:solidFill>
                  <a:srgbClr val="0D0D0D"/>
                </a:solidFill>
                <a:effectLst/>
                <a:highlight>
                  <a:srgbClr val="FFFFFF"/>
                </a:highlight>
                <a:latin typeface="Times New Roman" panose="02020603050405020304" charset="0"/>
                <a:cs typeface="Times New Roman" panose="02020603050405020304" charset="0"/>
                <a:sym typeface="+mn-ea"/>
              </a:rPr>
              <a:t> Introduction</a:t>
            </a:r>
          </a:p>
          <a:p>
            <a:pPr>
              <a:buFont typeface="+mj-lt"/>
              <a:buAutoNum type="arabicPeriod"/>
            </a:pPr>
            <a:r>
              <a:rPr lang="en-US" dirty="0">
                <a:solidFill>
                  <a:srgbClr val="000000"/>
                </a:solidFill>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Motivation</a:t>
            </a:r>
            <a:endParaRPr lang="en-US" dirty="0">
              <a:solidFill>
                <a:srgbClr val="0D0D0D"/>
              </a:solidFill>
              <a:effectLst/>
              <a:highlight>
                <a:srgbClr val="FFFFFF"/>
              </a:highlight>
              <a:latin typeface="Times New Roman" panose="02020603050405020304" charset="0"/>
              <a:cs typeface="Times New Roman" panose="02020603050405020304" charset="0"/>
              <a:sym typeface="+mn-ea"/>
            </a:endParaRPr>
          </a:p>
          <a:p>
            <a:pPr algn="l">
              <a:buFont typeface="+mj-lt"/>
              <a:buAutoNum type="arabicPeriod"/>
            </a:pPr>
            <a:r>
              <a:rPr lang="en-US" dirty="0">
                <a:solidFill>
                  <a:srgbClr val="0D0D0D"/>
                </a:solidFill>
                <a:highlight>
                  <a:srgbClr val="FFFFFF"/>
                </a:highlight>
                <a:latin typeface="Times New Roman" panose="02020603050405020304" charset="0"/>
                <a:cs typeface="Times New Roman" panose="02020603050405020304" charset="0"/>
              </a:rPr>
              <a:t>Problem Statement</a:t>
            </a:r>
          </a:p>
          <a:p>
            <a:pPr>
              <a:buFont typeface="+mj-lt"/>
              <a:buAutoNum type="arabicPeriod"/>
            </a:pPr>
            <a:r>
              <a:rPr lang="en-US" dirty="0">
                <a:solidFill>
                  <a:srgbClr val="000000"/>
                </a:solidFill>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Literature Survey</a:t>
            </a:r>
          </a:p>
          <a:p>
            <a:pPr>
              <a:buFont typeface="+mj-lt"/>
              <a:buAutoNum type="arabicPeriod"/>
            </a:pPr>
            <a:r>
              <a:rPr lang="en-US" altLang="en-IN" dirty="0">
                <a:highlight>
                  <a:srgbClr val="FFFFFF"/>
                </a:highlight>
                <a:latin typeface="Times New Roman" panose="02020603050405020304" charset="0"/>
                <a:cs typeface="Times New Roman" panose="02020603050405020304" charset="0"/>
              </a:rPr>
              <a:t>Research Gap</a:t>
            </a:r>
          </a:p>
          <a:p>
            <a:pPr>
              <a:buFont typeface="+mj-lt"/>
              <a:buAutoNum type="arabicPeriod"/>
            </a:pPr>
            <a:r>
              <a:rPr lang="en-US" i="0" dirty="0">
                <a:solidFill>
                  <a:srgbClr val="0D0D0D"/>
                </a:solidFill>
                <a:effectLst/>
                <a:highlight>
                  <a:srgbClr val="FFFFFF"/>
                </a:highlight>
                <a:latin typeface="Times New Roman" panose="02020603050405020304" charset="0"/>
                <a:cs typeface="Times New Roman" panose="02020603050405020304" charset="0"/>
              </a:rPr>
              <a:t>Objectives</a:t>
            </a:r>
          </a:p>
          <a:p>
            <a:pPr algn="l">
              <a:buFont typeface="+mj-lt"/>
              <a:buAutoNum type="arabicPeriod"/>
            </a:pPr>
            <a:r>
              <a:rPr lang="en-US" dirty="0">
                <a:solidFill>
                  <a:srgbClr val="0D0D0D"/>
                </a:solidFill>
                <a:highlight>
                  <a:srgbClr val="FFFFFF"/>
                </a:highlight>
                <a:latin typeface="Times New Roman" panose="02020603050405020304" charset="0"/>
                <a:cs typeface="Times New Roman" panose="02020603050405020304" charset="0"/>
              </a:rPr>
              <a:t>Market Gap and Opportunity</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mj-lt"/>
              <a:buAutoNum type="arabicPeriod"/>
            </a:pPr>
            <a:r>
              <a:rPr lang="en-US" dirty="0">
                <a:solidFill>
                  <a:srgbClr val="0D0D0D"/>
                </a:solidFill>
                <a:highlight>
                  <a:srgbClr val="FFFFFF"/>
                </a:highlight>
                <a:latin typeface="Times New Roman" panose="02020603050405020304" charset="0"/>
                <a:cs typeface="Times New Roman" panose="02020603050405020304" charset="0"/>
              </a:rPr>
              <a:t>Core Features and Functionalities</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mj-lt"/>
              <a:buAutoNum type="arabicPeriod"/>
            </a:pPr>
            <a:r>
              <a:rPr lang="en-US" dirty="0">
                <a:solidFill>
                  <a:srgbClr val="0D0D0D"/>
                </a:solidFill>
                <a:highlight>
                  <a:srgbClr val="FFFFFF"/>
                </a:highlight>
                <a:latin typeface="Times New Roman" panose="02020603050405020304" charset="0"/>
                <a:cs typeface="Times New Roman" panose="02020603050405020304" charset="0"/>
              </a:rPr>
              <a:t>Technology Stack</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mj-lt"/>
              <a:buAutoNum type="arabicPeriod"/>
            </a:pPr>
            <a:r>
              <a:rPr lang="en-US" dirty="0">
                <a:solidFill>
                  <a:srgbClr val="0D0D0D"/>
                </a:solidFill>
                <a:effectLst/>
                <a:highlight>
                  <a:srgbClr val="FFFFFF"/>
                </a:highlight>
                <a:latin typeface="Times New Roman" panose="02020603050405020304" charset="0"/>
                <a:cs typeface="Times New Roman" panose="02020603050405020304" charset="0"/>
                <a:sym typeface="+mn-ea"/>
              </a:rPr>
              <a:t> </a:t>
            </a:r>
            <a:r>
              <a:rPr lang="en-US" dirty="0" err="1">
                <a:solidFill>
                  <a:srgbClr val="0D0D0D"/>
                </a:solidFill>
                <a:highlight>
                  <a:srgbClr val="FFFFFF"/>
                </a:highlight>
                <a:latin typeface="Times New Roman" panose="02020603050405020304" charset="0"/>
                <a:cs typeface="Times New Roman" panose="02020603050405020304" charset="0"/>
                <a:sym typeface="+mn-ea"/>
              </a:rPr>
              <a:t>UseCases</a:t>
            </a:r>
            <a:r>
              <a:rPr lang="en-US" dirty="0">
                <a:solidFill>
                  <a:srgbClr val="0D0D0D"/>
                </a:solidFill>
                <a:highlight>
                  <a:srgbClr val="FFFFFF"/>
                </a:highlight>
                <a:latin typeface="Times New Roman" panose="02020603050405020304" charset="0"/>
                <a:cs typeface="Times New Roman" panose="02020603050405020304" charset="0"/>
                <a:sym typeface="+mn-ea"/>
              </a:rPr>
              <a:t> and User Scenarios</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mj-lt"/>
              <a:buAutoNum type="arabicPeriod"/>
            </a:pPr>
            <a:r>
              <a:rPr lang="en-US" dirty="0">
                <a:solidFill>
                  <a:srgbClr val="0D0D0D"/>
                </a:solidFill>
                <a:highlight>
                  <a:srgbClr val="FFFFFF"/>
                </a:highlight>
                <a:latin typeface="Times New Roman" panose="02020603050405020304" charset="0"/>
                <a:cs typeface="Times New Roman" panose="02020603050405020304" charset="0"/>
                <a:sym typeface="+mn-ea"/>
              </a:rPr>
              <a:t>P</a:t>
            </a:r>
            <a:r>
              <a:rPr lang="en-US" dirty="0">
                <a:solidFill>
                  <a:srgbClr val="0D0D0D"/>
                </a:solidFill>
                <a:effectLst/>
                <a:highlight>
                  <a:srgbClr val="FFFFFF"/>
                </a:highlight>
                <a:latin typeface="Times New Roman" panose="02020603050405020304" charset="0"/>
                <a:cs typeface="Times New Roman" panose="02020603050405020304" charset="0"/>
                <a:sym typeface="+mn-ea"/>
              </a:rPr>
              <a:t>roject Planning</a:t>
            </a:r>
          </a:p>
          <a:p>
            <a:pPr algn="l">
              <a:buFont typeface="+mj-lt"/>
              <a:buAutoNum type="arabicPeriod"/>
            </a:pPr>
            <a:r>
              <a:rPr lang="en-US" dirty="0">
                <a:solidFill>
                  <a:srgbClr val="0D0D0D"/>
                </a:solidFill>
                <a:effectLst/>
                <a:highlight>
                  <a:srgbClr val="FFFFFF"/>
                </a:highlight>
                <a:latin typeface="Times New Roman" panose="02020603050405020304" charset="0"/>
                <a:cs typeface="Times New Roman" panose="02020603050405020304" charset="0"/>
                <a:sym typeface="+mn-ea"/>
              </a:rPr>
              <a:t>Outcome</a:t>
            </a:r>
          </a:p>
          <a:p>
            <a:pPr algn="l">
              <a:buFont typeface="+mj-lt"/>
              <a:buAutoNum type="arabicPeriod"/>
            </a:pPr>
            <a:r>
              <a:rPr lang="en-US" dirty="0">
                <a:solidFill>
                  <a:srgbClr val="0D0D0D"/>
                </a:solidFill>
                <a:effectLst/>
                <a:highlight>
                  <a:srgbClr val="FFFFFF"/>
                </a:highlight>
                <a:latin typeface="Times New Roman" panose="02020603050405020304" charset="0"/>
                <a:cs typeface="Times New Roman" panose="02020603050405020304" charset="0"/>
                <a:sym typeface="+mn-ea"/>
              </a:rPr>
              <a:t>Conclusion</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marL="0" indent="0" algn="l">
              <a:buNone/>
            </a:pPr>
            <a:endParaRPr lang="en-US" dirty="0">
              <a:solidFill>
                <a:srgbClr val="0D0D0D"/>
              </a:solidFill>
              <a:highlight>
                <a:srgbClr val="FFFFFF"/>
              </a:highlight>
              <a:latin typeface="Times New Roman" panose="02020603050405020304" charset="0"/>
              <a:cs typeface="Times New Roman" panose="02020603050405020304" charset="0"/>
              <a:sym typeface="+mn-ea"/>
            </a:endParaRPr>
          </a:p>
          <a:p>
            <a:pPr algn="l">
              <a:buFont typeface="+mj-lt"/>
              <a:buAutoNum type="arabicPeriod"/>
            </a:pPr>
            <a:endParaRPr lang="en-US" b="0" i="0" dirty="0">
              <a:solidFill>
                <a:srgbClr val="0D0D0D"/>
              </a:solidFill>
              <a:effectLst/>
              <a:highlight>
                <a:srgbClr val="FFFFFF"/>
              </a:highlight>
              <a:latin typeface="Times New Roman" panose="02020603050405020304" charset="0"/>
              <a:cs typeface="Times New Roman" panose="02020603050405020304" charset="0"/>
            </a:endParaRPr>
          </a:p>
          <a:p>
            <a:endParaRPr lang="en-US"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D109C-5C18-4050-80CE-42FEFAF8789B}"/>
              </a:ext>
            </a:extLst>
          </p:cNvPr>
          <p:cNvSpPr>
            <a:spLocks noGrp="1"/>
          </p:cNvSpPr>
          <p:nvPr>
            <p:ph type="title"/>
          </p:nvPr>
        </p:nvSpPr>
        <p:spPr>
          <a:xfrm>
            <a:off x="838200" y="365126"/>
            <a:ext cx="6840072" cy="1423334"/>
          </a:xfrm>
        </p:spPr>
        <p:txBody>
          <a:bodyPr/>
          <a:lstStyle/>
          <a:p>
            <a:r>
              <a:rPr lang="en-US" b="1" dirty="0"/>
              <a:t>Progress</a:t>
            </a:r>
            <a:endParaRPr lang="en-IN" b="1" dirty="0"/>
          </a:p>
        </p:txBody>
      </p:sp>
      <p:sp>
        <p:nvSpPr>
          <p:cNvPr id="6" name="Rectangle 5">
            <a:extLst>
              <a:ext uri="{FF2B5EF4-FFF2-40B4-BE49-F238E27FC236}">
                <a16:creationId xmlns:a16="http://schemas.microsoft.com/office/drawing/2014/main" id="{504D507E-EE38-4DCD-8614-2F1ABF563E69}"/>
              </a:ext>
            </a:extLst>
          </p:cNvPr>
          <p:cNvSpPr/>
          <p:nvPr/>
        </p:nvSpPr>
        <p:spPr>
          <a:xfrm>
            <a:off x="414218" y="2025134"/>
            <a:ext cx="9976691" cy="2092881"/>
          </a:xfrm>
          <a:prstGeom prst="rect">
            <a:avLst/>
          </a:prstGeom>
        </p:spPr>
        <p:txBody>
          <a:bodyPr wrap="square">
            <a:spAutoFit/>
          </a:bodyPr>
          <a:lstStyle/>
          <a:p>
            <a:r>
              <a:rPr lang="en-US" sz="2800" dirty="0">
                <a:solidFill>
                  <a:srgbClr val="0D0D0D"/>
                </a:solidFill>
                <a:highlight>
                  <a:srgbClr val="FFFFFF"/>
                </a:highlight>
                <a:latin typeface="Times New Roman" panose="02020603050405020304" pitchFamily="18" charset="0"/>
                <a:cs typeface="Times New Roman" panose="02020603050405020304" pitchFamily="18" charset="0"/>
                <a:sym typeface="+mn-ea"/>
              </a:rPr>
              <a:t>Evaluation 0: Title Approval</a:t>
            </a:r>
            <a:br>
              <a:rPr lang="en-US" sz="2800" dirty="0">
                <a:solidFill>
                  <a:srgbClr val="0D0D0D"/>
                </a:solidFill>
                <a:highlight>
                  <a:srgbClr val="FFFFFF"/>
                </a:highlight>
                <a:latin typeface="Times New Roman" panose="02020603050405020304" pitchFamily="18" charset="0"/>
                <a:cs typeface="Times New Roman" panose="02020603050405020304" pitchFamily="18" charset="0"/>
                <a:sym typeface="+mn-ea"/>
              </a:rPr>
            </a:br>
            <a:r>
              <a:rPr lang="en-US" sz="2800" dirty="0">
                <a:solidFill>
                  <a:srgbClr val="0D0D0D"/>
                </a:solidFill>
                <a:highlight>
                  <a:srgbClr val="FFFFFF"/>
                </a:highlight>
                <a:latin typeface="Times New Roman" panose="02020603050405020304" pitchFamily="18" charset="0"/>
                <a:cs typeface="Times New Roman" panose="02020603050405020304" pitchFamily="18" charset="0"/>
                <a:sym typeface="+mn-ea"/>
              </a:rPr>
              <a:t>Evaluation 1: </a:t>
            </a:r>
            <a:r>
              <a:rPr lang="en-IN" sz="2800" dirty="0">
                <a:highlight>
                  <a:srgbClr val="FFFFFF"/>
                </a:highlight>
                <a:latin typeface="Times New Roman" panose="02020603050405020304" pitchFamily="18" charset="0"/>
                <a:cs typeface="Times New Roman" panose="02020603050405020304" pitchFamily="18" charset="0"/>
              </a:rPr>
              <a:t>Technical Feasibility Study , Conceptualization and  		  Planning , Research and Market Analysis</a:t>
            </a:r>
          </a:p>
          <a:p>
            <a:r>
              <a:rPr lang="en-US" sz="2800" dirty="0">
                <a:solidFill>
                  <a:srgbClr val="0D0D0D"/>
                </a:solidFill>
                <a:highlight>
                  <a:srgbClr val="FFFFFF"/>
                </a:highlight>
                <a:latin typeface="Times New Roman" panose="02020603050405020304" pitchFamily="18" charset="0"/>
                <a:cs typeface="Times New Roman" panose="02020603050405020304" pitchFamily="18" charset="0"/>
                <a:sym typeface="+mn-ea"/>
              </a:rPr>
              <a:t>E</a:t>
            </a:r>
            <a:r>
              <a:rPr lang="en-IN" sz="2800" dirty="0">
                <a:solidFill>
                  <a:srgbClr val="0D0D0D"/>
                </a:solidFill>
                <a:highlight>
                  <a:srgbClr val="FFFFFF"/>
                </a:highlight>
                <a:latin typeface="Times New Roman" panose="02020603050405020304" pitchFamily="18" charset="0"/>
                <a:cs typeface="Times New Roman" panose="02020603050405020304" pitchFamily="18" charset="0"/>
                <a:sym typeface="+mn-ea"/>
              </a:rPr>
              <a:t>valuation 2:</a:t>
            </a:r>
            <a:r>
              <a:rPr lang="en-US" sz="2800" dirty="0">
                <a:solidFill>
                  <a:srgbClr val="0D0D0D"/>
                </a:solidFill>
                <a:highlight>
                  <a:srgbClr val="FFFFFF"/>
                </a:highlight>
                <a:latin typeface="Times New Roman" panose="02020603050405020304" pitchFamily="18" charset="0"/>
                <a:cs typeface="Times New Roman" panose="02020603050405020304" pitchFamily="18" charset="0"/>
                <a:sym typeface="+mn-ea"/>
              </a:rPr>
              <a:t> Technology to be used, </a:t>
            </a:r>
            <a:r>
              <a:rPr lang="en-US" sz="2800" dirty="0" err="1">
                <a:solidFill>
                  <a:srgbClr val="0D0D0D"/>
                </a:solidFill>
                <a:highlight>
                  <a:srgbClr val="FFFFFF"/>
                </a:highlight>
                <a:latin typeface="Times New Roman" panose="02020603050405020304" pitchFamily="18" charset="0"/>
                <a:cs typeface="Times New Roman" panose="02020603050405020304" pitchFamily="18" charset="0"/>
                <a:sym typeface="+mn-ea"/>
              </a:rPr>
              <a:t>UseCases</a:t>
            </a:r>
            <a:r>
              <a:rPr lang="en-US" sz="2800" dirty="0">
                <a:solidFill>
                  <a:srgbClr val="0D0D0D"/>
                </a:solidFill>
                <a:highlight>
                  <a:srgbClr val="FFFFFF"/>
                </a:highlight>
                <a:latin typeface="Times New Roman" panose="02020603050405020304" pitchFamily="18" charset="0"/>
                <a:cs typeface="Times New Roman" panose="02020603050405020304" pitchFamily="18" charset="0"/>
                <a:sym typeface="+mn-ea"/>
              </a:rPr>
              <a:t> and User Scenarios</a:t>
            </a:r>
            <a:endParaRPr lang="en-US" sz="2800" dirty="0">
              <a:solidFill>
                <a:srgbClr val="0D0D0D"/>
              </a:solidFill>
              <a:highlight>
                <a:srgbClr val="FFFFFF"/>
              </a:highlight>
              <a:latin typeface="Times New Roman" panose="02020603050405020304" pitchFamily="18" charset="0"/>
              <a:cs typeface="Times New Roman" panose="02020603050405020304" pitchFamily="18" charset="0"/>
            </a:endParaRPr>
          </a:p>
          <a:p>
            <a:endParaRPr lang="en-IN" dirty="0">
              <a:solidFill>
                <a:srgbClr val="0D0D0D"/>
              </a:solidFill>
              <a:highlight>
                <a:srgbClr val="FFFFFF"/>
              </a:highlight>
              <a:latin typeface="Times New Roman" panose="02020603050405020304" charset="0"/>
              <a:cs typeface="Times New Roman" panose="02020603050405020304" charset="0"/>
              <a:sym typeface="+mn-ea"/>
            </a:endParaRPr>
          </a:p>
        </p:txBody>
      </p:sp>
    </p:spTree>
    <p:extLst>
      <p:ext uri="{BB962C8B-B14F-4D97-AF65-F5344CB8AC3E}">
        <p14:creationId xmlns:p14="http://schemas.microsoft.com/office/powerpoint/2010/main" val="415295872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charset="0"/>
                <a:cs typeface="Times New Roman" panose="02020603050405020304" charset="0"/>
              </a:rPr>
              <a:t>Introduction</a:t>
            </a:r>
          </a:p>
        </p:txBody>
      </p:sp>
      <p:sp>
        <p:nvSpPr>
          <p:cNvPr id="4" name="Content Placeholder 2"/>
          <p:cNvSpPr txBox="1"/>
          <p:nvPr/>
        </p:nvSpPr>
        <p:spPr>
          <a:xfrm>
            <a:off x="838200" y="1690370"/>
            <a:ext cx="7438390" cy="45815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err="1"/>
          </a:p>
          <a:p>
            <a:pPr>
              <a:buFont typeface="Wingdings" panose="05000000000000000000" charset="0"/>
              <a:buChar char="v"/>
            </a:pPr>
            <a:r>
              <a:rPr lang="en-US" sz="2400" dirty="0"/>
              <a:t>TuneTalk is a revolutionary platform that seamlessly blends the worlds of music streaming and integrated voice communication.</a:t>
            </a:r>
          </a:p>
          <a:p>
            <a:pPr>
              <a:buFont typeface="Wingdings" panose="05000000000000000000" charset="0"/>
              <a:buChar char="v"/>
            </a:pPr>
            <a:r>
              <a:rPr lang="en-US" sz="2400" dirty="0"/>
              <a:t>By combining these two essential features, TuneTalk enhances user experience by providing a one-stop solution for both entertainment and communication needs.</a:t>
            </a:r>
          </a:p>
          <a:p>
            <a:pPr>
              <a:buFont typeface="Wingdings" panose="05000000000000000000" charset="0"/>
              <a:buChar char="v"/>
            </a:pPr>
            <a:r>
              <a:rPr lang="en-US" sz="2400" dirty="0"/>
              <a:t>Instead of toggling between different apps .TuneTalk allows users to effortlessly switch between listening to music and talking over voice call without interrupting their flow</a:t>
            </a:r>
            <a:endParaRPr lang="en-US" sz="2400" dirty="0">
              <a:latin typeface="Times New Roman" panose="02020603050405020304" charset="0"/>
              <a:cs typeface="Times New Roman" panose="02020603050405020304" charset="0"/>
            </a:endParaRPr>
          </a:p>
        </p:txBody>
      </p:sp>
      <p:pic>
        <p:nvPicPr>
          <p:cNvPr id="7" name="Picture 6" descr="9322819"/>
          <p:cNvPicPr>
            <a:picLocks noChangeAspect="1"/>
          </p:cNvPicPr>
          <p:nvPr/>
        </p:nvPicPr>
        <p:blipFill>
          <a:blip r:embed="rId2"/>
          <a:stretch>
            <a:fillRect/>
          </a:stretch>
        </p:blipFill>
        <p:spPr>
          <a:xfrm>
            <a:off x="8117205" y="2006600"/>
            <a:ext cx="3429000" cy="3429000"/>
          </a:xfrm>
          <a:prstGeom prst="rect">
            <a:avLst/>
          </a:prstGeom>
          <a:ln>
            <a:solidFill>
              <a:schemeClr val="tx1"/>
            </a:solidFill>
          </a:ln>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B3C4806-12F8-4418-8DEB-6B13799AD542}"/>
              </a:ext>
            </a:extLst>
          </p:cNvPr>
          <p:cNvSpPr>
            <a:spLocks noGrp="1"/>
          </p:cNvSpPr>
          <p:nvPr>
            <p:ph type="title"/>
          </p:nvPr>
        </p:nvSpPr>
        <p:spPr>
          <a:xfrm>
            <a:off x="838200" y="403809"/>
            <a:ext cx="10515600" cy="1325563"/>
          </a:xfrm>
        </p:spPr>
        <p:txBody>
          <a:bodyPr/>
          <a:lstStyle/>
          <a:p>
            <a:pPr algn="ctr"/>
            <a:r>
              <a:rPr lang="en-US" b="1" dirty="0">
                <a:latin typeface="Times New Roman" panose="02020603050405020304" charset="0"/>
                <a:cs typeface="Times New Roman" panose="02020603050405020304" charset="0"/>
              </a:rPr>
              <a:t>Motivation</a:t>
            </a:r>
            <a:endParaRPr lang="en-IN" b="1" dirty="0">
              <a:latin typeface="Times New Roman" panose="02020603050405020304" charset="0"/>
              <a:cs typeface="Times New Roman" panose="02020603050405020304" charset="0"/>
            </a:endParaRPr>
          </a:p>
        </p:txBody>
      </p:sp>
      <p:sp>
        <p:nvSpPr>
          <p:cNvPr id="9" name="Content Placeholder 2">
            <a:extLst>
              <a:ext uri="{FF2B5EF4-FFF2-40B4-BE49-F238E27FC236}">
                <a16:creationId xmlns:a16="http://schemas.microsoft.com/office/drawing/2014/main" id="{C443F06A-1F2C-48AC-8C9A-FE8D557B82BF}"/>
              </a:ext>
            </a:extLst>
          </p:cNvPr>
          <p:cNvSpPr>
            <a:spLocks noGrp="1"/>
          </p:cNvSpPr>
          <p:nvPr>
            <p:ph idx="1"/>
          </p:nvPr>
        </p:nvSpPr>
        <p:spPr>
          <a:xfrm>
            <a:off x="838200" y="1955165"/>
            <a:ext cx="6354445" cy="4351655"/>
          </a:xfrm>
        </p:spPr>
        <p:txBody>
          <a:bodyPr>
            <a:normAutofit fontScale="90000" lnSpcReduction="10000"/>
          </a:bodyPr>
          <a:lstStyle/>
          <a:p>
            <a:pPr algn="just">
              <a:lnSpc>
                <a:spcPct val="100000"/>
              </a:lnSpc>
              <a:buFont typeface="Wingdings" panose="05000000000000000000" charset="0"/>
              <a:buChar char="§"/>
            </a:pPr>
            <a:r>
              <a:rPr lang="en-US" altLang="en-IN" sz="2400" dirty="0">
                <a:latin typeface="Times New Roman" panose="02020603050405020304" charset="0"/>
                <a:cs typeface="Times New Roman" panose="02020603050405020304" charset="0"/>
              </a:rPr>
              <a:t>After Resso was banned, there weren't any appealing alternatives. Spotify, although available, charged for its services and didn't offer as many features. It was this lack of satisfactory options that motivated us to embark on this project</a:t>
            </a:r>
          </a:p>
          <a:p>
            <a:pPr algn="just">
              <a:lnSpc>
                <a:spcPct val="100000"/>
              </a:lnSpc>
              <a:buFont typeface="Wingdings" panose="05000000000000000000" charset="0"/>
              <a:buChar char="§"/>
            </a:pPr>
            <a:r>
              <a:rPr lang="en-IN" sz="2400" dirty="0">
                <a:latin typeface="Times New Roman" panose="02020603050405020304" charset="0"/>
                <a:cs typeface="Times New Roman" panose="02020603050405020304" charset="0"/>
              </a:rPr>
              <a:t>So, we decided to incorporate features from Resso, some from Spotify, and others from different apps into our project</a:t>
            </a:r>
            <a:r>
              <a:rPr lang="en-US" altLang="en-IN" sz="2400" dirty="0">
                <a:latin typeface="Times New Roman" panose="02020603050405020304" charset="0"/>
                <a:cs typeface="Times New Roman" panose="02020603050405020304" charset="0"/>
              </a:rPr>
              <a:t>.</a:t>
            </a:r>
            <a:endParaRPr lang="en-IN" sz="2400" dirty="0">
              <a:latin typeface="Times New Roman" panose="02020603050405020304" charset="0"/>
              <a:cs typeface="Times New Roman" panose="02020603050405020304" charset="0"/>
            </a:endParaRPr>
          </a:p>
          <a:p>
            <a:pPr algn="just">
              <a:lnSpc>
                <a:spcPct val="100000"/>
              </a:lnSpc>
              <a:buFont typeface="Wingdings" panose="05000000000000000000" charset="0"/>
              <a:buChar char="§"/>
            </a:pPr>
            <a:r>
              <a:rPr lang="en-IN" sz="2400" dirty="0">
                <a:latin typeface="Times New Roman" panose="02020603050405020304" charset="0"/>
                <a:cs typeface="Times New Roman" panose="02020603050405020304" charset="0"/>
              </a:rPr>
              <a:t>Stay connected with loved ones while enjoying your favorite music.</a:t>
            </a:r>
          </a:p>
          <a:p>
            <a:pPr algn="just">
              <a:lnSpc>
                <a:spcPct val="100000"/>
              </a:lnSpc>
              <a:buFont typeface="Wingdings" panose="05000000000000000000" charset="0"/>
              <a:buChar char="§"/>
            </a:pPr>
            <a:r>
              <a:rPr lang="en-IN" sz="2400" dirty="0">
                <a:latin typeface="Times New Roman" panose="02020603050405020304" charset="0"/>
                <a:cs typeface="Times New Roman" panose="02020603050405020304" charset="0"/>
              </a:rPr>
              <a:t> Save time and effort by using one platform for both music and communication needs.</a:t>
            </a:r>
          </a:p>
        </p:txBody>
      </p:sp>
      <p:pic>
        <p:nvPicPr>
          <p:cNvPr id="10" name="Picture 9" descr="9290680">
            <a:extLst>
              <a:ext uri="{FF2B5EF4-FFF2-40B4-BE49-F238E27FC236}">
                <a16:creationId xmlns:a16="http://schemas.microsoft.com/office/drawing/2014/main" id="{F148F139-5661-40AE-B972-C12F337F3CE2}"/>
              </a:ext>
            </a:extLst>
          </p:cNvPr>
          <p:cNvPicPr>
            <a:picLocks noChangeAspect="1"/>
          </p:cNvPicPr>
          <p:nvPr/>
        </p:nvPicPr>
        <p:blipFill>
          <a:blip r:embed="rId2"/>
          <a:stretch>
            <a:fillRect/>
          </a:stretch>
        </p:blipFill>
        <p:spPr>
          <a:xfrm>
            <a:off x="7752080" y="1816735"/>
            <a:ext cx="3808095" cy="3808095"/>
          </a:xfrm>
          <a:prstGeom prst="rect">
            <a:avLst/>
          </a:prstGeom>
          <a:ln>
            <a:solidFill>
              <a:schemeClr val="tx1"/>
            </a:solidFill>
          </a:ln>
          <a:effectLst>
            <a:softEdge rad="12700"/>
          </a:effectLst>
        </p:spPr>
      </p:pic>
    </p:spTree>
    <p:extLst>
      <p:ext uri="{BB962C8B-B14F-4D97-AF65-F5344CB8AC3E}">
        <p14:creationId xmlns:p14="http://schemas.microsoft.com/office/powerpoint/2010/main" val="401121960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4D6EA-C199-4E59-BC0F-CDE59C87B539}"/>
              </a:ext>
            </a:extLst>
          </p:cNvPr>
          <p:cNvSpPr>
            <a:spLocks noGrp="1"/>
          </p:cNvSpPr>
          <p:nvPr>
            <p:ph type="title"/>
          </p:nvPr>
        </p:nvSpPr>
        <p:spPr>
          <a:xfrm>
            <a:off x="603885" y="581660"/>
            <a:ext cx="6382385" cy="1325880"/>
          </a:xfrm>
        </p:spPr>
        <p:txBody>
          <a:bodyPr/>
          <a:lstStyle/>
          <a:p>
            <a:pPr algn="ctr"/>
            <a:r>
              <a:rPr lang="en-US" b="1" dirty="0">
                <a:latin typeface="Times New Roman" panose="02020603050405020304" charset="0"/>
                <a:cs typeface="Times New Roman" panose="02020603050405020304" charset="0"/>
              </a:rPr>
              <a:t>Problem Statement:</a:t>
            </a:r>
          </a:p>
        </p:txBody>
      </p:sp>
      <p:sp>
        <p:nvSpPr>
          <p:cNvPr id="8" name="Content Placeholder 2">
            <a:extLst>
              <a:ext uri="{FF2B5EF4-FFF2-40B4-BE49-F238E27FC236}">
                <a16:creationId xmlns:a16="http://schemas.microsoft.com/office/drawing/2014/main" id="{F3FA5988-E1CC-4DF0-A858-618ADB7D3677}"/>
              </a:ext>
            </a:extLst>
          </p:cNvPr>
          <p:cNvSpPr txBox="1"/>
          <p:nvPr/>
        </p:nvSpPr>
        <p:spPr>
          <a:xfrm>
            <a:off x="421341" y="2637156"/>
            <a:ext cx="9724390" cy="3780790"/>
          </a:xfrm>
          <a:prstGeom prst="rect">
            <a:avLst/>
          </a:prstGeom>
        </p:spPr>
        <p:txBody>
          <a:bodyPr vert="horz" lIns="91440" tIns="45720" rIns="91440" bIns="45720" rtlCol="0">
            <a:normAutofit fontScale="9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charset="0"/>
              <a:buChar char="v"/>
            </a:pPr>
            <a:r>
              <a:rPr lang="en-US" dirty="0">
                <a:latin typeface="Times New Roman" panose="02020603050405020304" charset="0"/>
                <a:cs typeface="Times New Roman" panose="02020603050405020304" charset="0"/>
              </a:rPr>
              <a:t>After Resso was banned, we found that there weren't any appealing alternatives. Spotify, while available, charged for its services and lacked certain features. </a:t>
            </a:r>
          </a:p>
          <a:p>
            <a:pPr>
              <a:buFont typeface="Wingdings" panose="05000000000000000000" charset="0"/>
              <a:buChar char="v"/>
            </a:pPr>
            <a:r>
              <a:rPr lang="en-US" dirty="0"/>
              <a:t>There is no platform that combines voice-based interaction with music sharing in a seamless, interactive manner.</a:t>
            </a:r>
            <a:endParaRPr lang="en-US" dirty="0">
              <a:latin typeface="Times New Roman" panose="02020603050405020304" charset="0"/>
              <a:cs typeface="Times New Roman" panose="02020603050405020304" charset="0"/>
            </a:endParaRPr>
          </a:p>
          <a:p>
            <a:pPr>
              <a:buFont typeface="Wingdings" panose="05000000000000000000" charset="0"/>
              <a:buChar char="v"/>
            </a:pPr>
            <a:r>
              <a:rPr lang="en-US" dirty="0">
                <a:latin typeface="Times New Roman" panose="02020603050405020304" charset="0"/>
                <a:cs typeface="Times New Roman" panose="02020603050405020304" charset="0"/>
              </a:rPr>
              <a:t>The issue arose from the fact that people desired to chat and listen to music simultaneously, rather than switching between apps. </a:t>
            </a:r>
          </a:p>
          <a:p>
            <a:pPr>
              <a:buFont typeface="Wingdings" panose="05000000000000000000" charset="0"/>
              <a:buChar char="v"/>
            </a:pPr>
            <a:r>
              <a:rPr lang="en-US" dirty="0">
                <a:latin typeface="Times New Roman" panose="02020603050405020304" charset="0"/>
                <a:cs typeface="Times New Roman" panose="02020603050405020304" charset="0"/>
              </a:rPr>
              <a:t>Additionally, if they wanted to change the song, they had to call or message, disrupting the experience.</a:t>
            </a:r>
          </a:p>
          <a:p>
            <a:pPr>
              <a:buFont typeface="Wingdings" panose="05000000000000000000" charset="0"/>
              <a:buChar char="v"/>
            </a:pPr>
            <a:r>
              <a:rPr lang="en-US" dirty="0">
                <a:latin typeface="Times New Roman" panose="02020603050405020304" charset="0"/>
                <a:cs typeface="Times New Roman" panose="02020603050405020304" charset="0"/>
              </a:rPr>
              <a:t> Furthermore, existing apps automatically paused songs when making calls, making it challenging to use them effectively</a:t>
            </a:r>
          </a:p>
        </p:txBody>
      </p:sp>
      <p:pic>
        <p:nvPicPr>
          <p:cNvPr id="9" name="Content Placeholder 2" descr="angry">
            <a:extLst>
              <a:ext uri="{FF2B5EF4-FFF2-40B4-BE49-F238E27FC236}">
                <a16:creationId xmlns:a16="http://schemas.microsoft.com/office/drawing/2014/main" id="{E52B75AD-6EE5-45DD-BB2F-73B6030C01E3}"/>
              </a:ext>
            </a:extLst>
          </p:cNvPr>
          <p:cNvPicPr>
            <a:picLocks noGrp="1" noChangeAspect="1"/>
          </p:cNvPicPr>
          <p:nvPr>
            <p:ph idx="1"/>
          </p:nvPr>
        </p:nvPicPr>
        <p:blipFill>
          <a:blip r:embed="rId2"/>
          <a:stretch>
            <a:fillRect/>
          </a:stretch>
        </p:blipFill>
        <p:spPr>
          <a:xfrm>
            <a:off x="7804150" y="365125"/>
            <a:ext cx="3754120" cy="1965325"/>
          </a:xfrm>
          <a:prstGeom prst="rect">
            <a:avLst/>
          </a:prstGeom>
          <a:ln>
            <a:solidFill>
              <a:schemeClr val="tx1"/>
            </a:solidFill>
          </a:ln>
        </p:spPr>
      </p:pic>
    </p:spTree>
    <p:extLst>
      <p:ext uri="{BB962C8B-B14F-4D97-AF65-F5344CB8AC3E}">
        <p14:creationId xmlns:p14="http://schemas.microsoft.com/office/powerpoint/2010/main" val="192938264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D36DDBE-FB87-4651-A1E8-FA7C9C8EC6BB}"/>
              </a:ext>
            </a:extLst>
          </p:cNvPr>
          <p:cNvSpPr>
            <a:spLocks noGrp="1"/>
          </p:cNvSpPr>
          <p:nvPr>
            <p:ph type="title"/>
          </p:nvPr>
        </p:nvSpPr>
        <p:spPr>
          <a:xfrm>
            <a:off x="838200" y="365125"/>
            <a:ext cx="4669155" cy="1325880"/>
          </a:xfrm>
        </p:spPr>
        <p:txBody>
          <a:bodyPr/>
          <a:lstStyle/>
          <a:p>
            <a:pPr algn="ctr"/>
            <a:r>
              <a:rPr lang="en-US" b="1" dirty="0">
                <a:latin typeface="Times New Roman" panose="02020603050405020304" charset="0"/>
                <a:cs typeface="Times New Roman" panose="02020603050405020304" charset="0"/>
              </a:rPr>
              <a:t>Literature Survey</a:t>
            </a:r>
            <a:endParaRPr lang="en-IN" b="1" dirty="0">
              <a:latin typeface="Times New Roman" panose="02020603050405020304" charset="0"/>
              <a:cs typeface="Times New Roman" panose="02020603050405020304" charset="0"/>
            </a:endParaRPr>
          </a:p>
        </p:txBody>
      </p:sp>
      <p:sp>
        <p:nvSpPr>
          <p:cNvPr id="11" name="Content Placeholder 2">
            <a:extLst>
              <a:ext uri="{FF2B5EF4-FFF2-40B4-BE49-F238E27FC236}">
                <a16:creationId xmlns:a16="http://schemas.microsoft.com/office/drawing/2014/main" id="{00E12195-CDA3-4694-9BFC-BCC3D9A1B131}"/>
              </a:ext>
            </a:extLst>
          </p:cNvPr>
          <p:cNvSpPr>
            <a:spLocks noGrp="1"/>
          </p:cNvSpPr>
          <p:nvPr>
            <p:ph sz="half" idx="1"/>
          </p:nvPr>
        </p:nvSpPr>
        <p:spPr>
          <a:xfrm>
            <a:off x="208280" y="1942465"/>
            <a:ext cx="11349990" cy="4644390"/>
          </a:xfrm>
        </p:spPr>
        <p:txBody>
          <a:bodyPr>
            <a:normAutofit fontScale="80000" lnSpcReduction="10000"/>
          </a:bodyPr>
          <a:lstStyle/>
          <a:p>
            <a:r>
              <a:rPr sz="2400" dirty="0">
                <a:latin typeface="Times New Roman" panose="02020603050405020304" charset="0"/>
                <a:cs typeface="Times New Roman" panose="02020603050405020304" charset="0"/>
              </a:rPr>
              <a:t>Based on our review of existing music streaming and communication platforms</a:t>
            </a:r>
            <a:r>
              <a:rPr lang="en-US" sz="2400" dirty="0">
                <a:latin typeface="Times New Roman" panose="02020603050405020304" charset="0"/>
                <a:cs typeface="Times New Roman" panose="02020603050405020304" charset="0"/>
              </a:rPr>
              <a:t> these are the apps used:</a:t>
            </a:r>
            <a:endParaRPr sz="2400" dirty="0">
              <a:latin typeface="Times New Roman" panose="02020603050405020304" charset="0"/>
              <a:cs typeface="Times New Roman" panose="02020603050405020304" charset="0"/>
            </a:endParaRPr>
          </a:p>
          <a:p>
            <a:r>
              <a:rPr sz="2400" b="1" dirty="0">
                <a:latin typeface="Times New Roman" panose="02020603050405020304" charset="0"/>
                <a:cs typeface="Times New Roman" panose="02020603050405020304" charset="0"/>
              </a:rPr>
              <a:t>Spotify's Superior Recommendation System:</a:t>
            </a:r>
            <a:r>
              <a:rPr sz="2400" dirty="0">
                <a:latin typeface="Times New Roman" panose="02020603050405020304" charset="0"/>
                <a:cs typeface="Times New Roman" panose="02020603050405020304" charset="0"/>
              </a:rPr>
              <a:t> Spotify stands out for its advanced song recommendation algorithms, which attract users seeking personalized music suggestions tailored to their tastes. Additionally, its premium users can create virtual rooms for group listening experiences, addressing the need for social interaction while enjoying music.</a:t>
            </a:r>
          </a:p>
          <a:p>
            <a:r>
              <a:rPr sz="2400" b="1" dirty="0">
                <a:latin typeface="Times New Roman" panose="02020603050405020304" charset="0"/>
                <a:cs typeface="Times New Roman" panose="02020603050405020304" charset="0"/>
              </a:rPr>
              <a:t>Apple Music's 3D Head Tracking Technology:</a:t>
            </a:r>
            <a:r>
              <a:rPr sz="2400" dirty="0">
                <a:latin typeface="Times New Roman" panose="02020603050405020304" charset="0"/>
                <a:cs typeface="Times New Roman" panose="02020603050405020304" charset="0"/>
              </a:rPr>
              <a:t> Apple Music offers innovative features such as 3D head tracking, enhancing the immersive experience for users who value high-quality audio and advanced technologies.</a:t>
            </a:r>
          </a:p>
          <a:p>
            <a:r>
              <a:rPr sz="2400" b="1" dirty="0">
                <a:latin typeface="Times New Roman" panose="02020603050405020304" charset="0"/>
                <a:cs typeface="Times New Roman" panose="02020603050405020304" charset="0"/>
              </a:rPr>
              <a:t>Gaana Music's HD Streaming:</a:t>
            </a:r>
            <a:r>
              <a:rPr sz="2400" dirty="0">
                <a:latin typeface="Times New Roman" panose="02020603050405020304" charset="0"/>
                <a:cs typeface="Times New Roman" panose="02020603050405020304" charset="0"/>
              </a:rPr>
              <a:t> Gaana Music distinguishes itself by providing music streaming in HD quality, appealing to users who prioritize audio fidelity and superior sound reproduction.</a:t>
            </a:r>
          </a:p>
          <a:p>
            <a:r>
              <a:rPr sz="2400" b="1" dirty="0">
                <a:latin typeface="Times New Roman" panose="02020603050405020304" charset="0"/>
                <a:cs typeface="Times New Roman" panose="02020603050405020304" charset="0"/>
              </a:rPr>
              <a:t>Amazon Prime Music's Extensive Library:</a:t>
            </a:r>
            <a:r>
              <a:rPr sz="2400" dirty="0">
                <a:latin typeface="Times New Roman" panose="02020603050405020304" charset="0"/>
                <a:cs typeface="Times New Roman" panose="02020603050405020304" charset="0"/>
              </a:rPr>
              <a:t> Amazon Prime Music boasts a vast collection of songs, leveraging the popularity and convenience of Amazon Prime memberships to attract users looking for a comprehensive music streaming service.</a:t>
            </a:r>
          </a:p>
          <a:p>
            <a:r>
              <a:rPr sz="2400" b="1" dirty="0">
                <a:latin typeface="Times New Roman" panose="02020603050405020304" charset="0"/>
                <a:cs typeface="Times New Roman" panose="02020603050405020304" charset="0"/>
              </a:rPr>
              <a:t>YouTube Music's Broad Content Availability:</a:t>
            </a:r>
            <a:r>
              <a:rPr sz="2400" dirty="0">
                <a:latin typeface="Times New Roman" panose="02020603050405020304" charset="0"/>
                <a:cs typeface="Times New Roman" panose="02020603050405020304" charset="0"/>
              </a:rPr>
              <a:t> YouTube Music benefits from its extensive library, with virtually every song being available and released on the platform. Its robust recommendation system further enhances the user experience by suggesting relevant content based on individual preferences.</a:t>
            </a:r>
          </a:p>
        </p:txBody>
      </p:sp>
      <p:pic>
        <p:nvPicPr>
          <p:cNvPr id="12" name="Content Placeholder 5" descr="survey">
            <a:extLst>
              <a:ext uri="{FF2B5EF4-FFF2-40B4-BE49-F238E27FC236}">
                <a16:creationId xmlns:a16="http://schemas.microsoft.com/office/drawing/2014/main" id="{68C15463-CA95-4149-93BC-CAD4FDD12883}"/>
              </a:ext>
            </a:extLst>
          </p:cNvPr>
          <p:cNvPicPr>
            <a:picLocks noChangeAspect="1"/>
          </p:cNvPicPr>
          <p:nvPr/>
        </p:nvPicPr>
        <p:blipFill>
          <a:blip r:embed="rId2"/>
          <a:srcRect t="13560"/>
          <a:stretch>
            <a:fillRect/>
          </a:stretch>
        </p:blipFill>
        <p:spPr>
          <a:xfrm>
            <a:off x="7415530" y="205740"/>
            <a:ext cx="3113405" cy="1603375"/>
          </a:xfrm>
          <a:prstGeom prst="rect">
            <a:avLst/>
          </a:prstGeom>
          <a:ln>
            <a:solidFill>
              <a:schemeClr val="tx1"/>
            </a:solidFill>
          </a:ln>
        </p:spPr>
      </p:pic>
    </p:spTree>
    <p:extLst>
      <p:ext uri="{BB962C8B-B14F-4D97-AF65-F5344CB8AC3E}">
        <p14:creationId xmlns:p14="http://schemas.microsoft.com/office/powerpoint/2010/main" val="247837046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125C7A5-B84B-464F-9CF0-7433FA7BABEA}"/>
              </a:ext>
            </a:extLst>
          </p:cNvPr>
          <p:cNvSpPr>
            <a:spLocks noGrp="1"/>
          </p:cNvSpPr>
          <p:nvPr>
            <p:ph type="title"/>
          </p:nvPr>
        </p:nvSpPr>
        <p:spPr>
          <a:xfrm>
            <a:off x="838200" y="365125"/>
            <a:ext cx="4698365" cy="1325880"/>
          </a:xfrm>
        </p:spPr>
        <p:txBody>
          <a:bodyPr/>
          <a:lstStyle/>
          <a:p>
            <a:pPr algn="ctr"/>
            <a:r>
              <a:rPr lang="en-US" altLang="en-IN" b="1" dirty="0">
                <a:latin typeface="Times New Roman" panose="02020603050405020304" charset="0"/>
                <a:cs typeface="Times New Roman" panose="02020603050405020304" charset="0"/>
              </a:rPr>
              <a:t>Research Gap</a:t>
            </a:r>
          </a:p>
        </p:txBody>
      </p:sp>
      <p:sp>
        <p:nvSpPr>
          <p:cNvPr id="13" name="Content Placeholder 2">
            <a:extLst>
              <a:ext uri="{FF2B5EF4-FFF2-40B4-BE49-F238E27FC236}">
                <a16:creationId xmlns:a16="http://schemas.microsoft.com/office/drawing/2014/main" id="{A0BB6468-C655-415D-A279-3AC0FD6DF2EB}"/>
              </a:ext>
            </a:extLst>
          </p:cNvPr>
          <p:cNvSpPr>
            <a:spLocks noGrp="1"/>
          </p:cNvSpPr>
          <p:nvPr>
            <p:ph sz="half" idx="1"/>
          </p:nvPr>
        </p:nvSpPr>
        <p:spPr>
          <a:xfrm>
            <a:off x="164465" y="2294255"/>
            <a:ext cx="11760200" cy="4425315"/>
          </a:xfrm>
        </p:spPr>
        <p:txBody>
          <a:bodyPr>
            <a:noAutofit/>
          </a:bodyPr>
          <a:lstStyle/>
          <a:p>
            <a:pPr marL="0" indent="0">
              <a:buNone/>
            </a:pPr>
            <a:endParaRPr sz="1200" dirty="0">
              <a:latin typeface="Times New Roman" panose="02020603050405020304" charset="0"/>
              <a:cs typeface="Times New Roman" panose="02020603050405020304" charset="0"/>
            </a:endParaRPr>
          </a:p>
          <a:p>
            <a:pPr marL="0" indent="0">
              <a:buNone/>
            </a:pPr>
            <a:r>
              <a:rPr sz="1800" b="1" dirty="0">
                <a:latin typeface="Times New Roman" panose="02020603050405020304" charset="0"/>
                <a:cs typeface="Times New Roman" panose="02020603050405020304" charset="0"/>
              </a:rPr>
              <a:t>Spotify:</a:t>
            </a:r>
            <a:r>
              <a:rPr lang="en-US" sz="1800" dirty="0">
                <a:latin typeface="Times New Roman" panose="02020603050405020304" charset="0"/>
                <a:cs typeface="Times New Roman" panose="02020603050405020304" charset="0"/>
              </a:rPr>
              <a:t> </a:t>
            </a:r>
            <a:r>
              <a:rPr sz="1800" dirty="0">
                <a:latin typeface="Times New Roman" panose="02020603050405020304" charset="0"/>
                <a:cs typeface="Times New Roman" panose="02020603050405020304" charset="0"/>
              </a:rPr>
              <a:t>Enhanced Control in Hosted Rooms: Investigate methods to provide more control to hosts in Spotify's hosted rooms, allowing for better management of interactions and content within the room.</a:t>
            </a:r>
          </a:p>
          <a:p>
            <a:pPr marL="0" indent="0">
              <a:buNone/>
            </a:pPr>
            <a:r>
              <a:rPr sz="1800" b="1" dirty="0">
                <a:latin typeface="Times New Roman" panose="02020603050405020304" charset="0"/>
                <a:cs typeface="Times New Roman" panose="02020603050405020304" charset="0"/>
              </a:rPr>
              <a:t>Apple Music:</a:t>
            </a:r>
            <a:r>
              <a:rPr lang="en-US" sz="1800" dirty="0">
                <a:latin typeface="Times New Roman" panose="02020603050405020304" charset="0"/>
                <a:cs typeface="Times New Roman" panose="02020603050405020304" charset="0"/>
              </a:rPr>
              <a:t> </a:t>
            </a:r>
            <a:r>
              <a:rPr sz="1800" dirty="0">
                <a:latin typeface="Times New Roman" panose="02020603050405020304" charset="0"/>
                <a:cs typeface="Times New Roman" panose="02020603050405020304" charset="0"/>
              </a:rPr>
              <a:t>Smart Playlist/Filtering System: Explore the development of a smart playlist and filtering system for Apple Music to facilitate efficient organization and navigation within users' music libraries.</a:t>
            </a:r>
          </a:p>
          <a:p>
            <a:pPr marL="0" indent="0">
              <a:buNone/>
            </a:pPr>
            <a:r>
              <a:rPr sz="1800" b="1" dirty="0">
                <a:latin typeface="Times New Roman" panose="02020603050405020304" charset="0"/>
                <a:cs typeface="Times New Roman" panose="02020603050405020304" charset="0"/>
              </a:rPr>
              <a:t>Gaana Music:</a:t>
            </a:r>
            <a:r>
              <a:rPr lang="en-US" sz="1800" dirty="0">
                <a:latin typeface="Times New Roman" panose="02020603050405020304" charset="0"/>
                <a:cs typeface="Times New Roman" panose="02020603050405020304" charset="0"/>
              </a:rPr>
              <a:t> </a:t>
            </a:r>
            <a:r>
              <a:rPr sz="1800" dirty="0">
                <a:latin typeface="Times New Roman" panose="02020603050405020304" charset="0"/>
                <a:cs typeface="Times New Roman" panose="02020603050405020304" charset="0"/>
              </a:rPr>
              <a:t>Improving Discoverability and Navigation: Conduct research to address issues of discoverability and clutter on Gaana Music's home screen, aiming to enhance user experience through improved content organization and navigation.</a:t>
            </a:r>
          </a:p>
          <a:p>
            <a:pPr marL="0" indent="0">
              <a:buNone/>
            </a:pPr>
            <a:r>
              <a:rPr sz="1800" b="1" dirty="0">
                <a:latin typeface="Times New Roman" panose="02020603050405020304" charset="0"/>
                <a:cs typeface="Times New Roman" panose="02020603050405020304" charset="0"/>
              </a:rPr>
              <a:t>Amazon Music:</a:t>
            </a:r>
            <a:r>
              <a:rPr sz="1800" dirty="0">
                <a:latin typeface="Times New Roman" panose="02020603050405020304" charset="0"/>
                <a:cs typeface="Times New Roman" panose="02020603050405020304" charset="0"/>
              </a:rPr>
              <a:t>Enhanced Streaming Quality: Investigate methods to improve Amazon Music's streaming quality, particularly in delivering HD audio streaming to enhance the overall listening experience for users.</a:t>
            </a:r>
          </a:p>
          <a:p>
            <a:pPr marL="0" indent="0">
              <a:buNone/>
            </a:pPr>
            <a:r>
              <a:rPr sz="1800" b="1" dirty="0">
                <a:latin typeface="Times New Roman" panose="02020603050405020304" charset="0"/>
                <a:cs typeface="Times New Roman" panose="02020603050405020304" charset="0"/>
              </a:rPr>
              <a:t>YouTube Music:</a:t>
            </a:r>
            <a:r>
              <a:rPr lang="en-US" sz="1800" b="1" dirty="0">
                <a:latin typeface="Times New Roman" panose="02020603050405020304" charset="0"/>
                <a:cs typeface="Times New Roman" panose="02020603050405020304" charset="0"/>
              </a:rPr>
              <a:t> </a:t>
            </a:r>
            <a:r>
              <a:rPr sz="1800" dirty="0">
                <a:latin typeface="Times New Roman" panose="02020603050405020304" charset="0"/>
                <a:cs typeface="Times New Roman" panose="02020603050405020304" charset="0"/>
              </a:rPr>
              <a:t>Background Play Feature: Research the implementation of a background play feature for songs on YouTube Music, addressing user demand for continuous music playback while using other applications or when the screen is turned off.</a:t>
            </a:r>
          </a:p>
          <a:p>
            <a:pPr marL="0" indent="0">
              <a:buNone/>
            </a:pPr>
            <a:r>
              <a:rPr sz="1800" dirty="0">
                <a:latin typeface="Times New Roman" panose="02020603050405020304" charset="0"/>
                <a:cs typeface="Times New Roman" panose="02020603050405020304" charset="0"/>
              </a:rPr>
              <a:t>By focusing on these specific research gaps for each platform type, developers and researchers can work towards improving the respective platforms and addressing the needs and preferences of users.</a:t>
            </a:r>
          </a:p>
        </p:txBody>
      </p:sp>
      <p:pic>
        <p:nvPicPr>
          <p:cNvPr id="14" name="Content Placeholder 2">
            <a:extLst>
              <a:ext uri="{FF2B5EF4-FFF2-40B4-BE49-F238E27FC236}">
                <a16:creationId xmlns:a16="http://schemas.microsoft.com/office/drawing/2014/main" id="{39D84131-CAE2-44E6-A085-97C4B1E769F6}"/>
              </a:ext>
            </a:extLst>
          </p:cNvPr>
          <p:cNvPicPr>
            <a:picLocks noChangeAspect="1"/>
          </p:cNvPicPr>
          <p:nvPr/>
        </p:nvPicPr>
        <p:blipFill>
          <a:blip r:embed="rId2"/>
          <a:stretch>
            <a:fillRect/>
          </a:stretch>
        </p:blipFill>
        <p:spPr>
          <a:xfrm>
            <a:off x="7110095" y="66675"/>
            <a:ext cx="4444365" cy="2227580"/>
          </a:xfrm>
          <a:prstGeom prst="rect">
            <a:avLst/>
          </a:prstGeom>
          <a:ln>
            <a:solidFill>
              <a:schemeClr val="tx1"/>
            </a:solidFill>
          </a:ln>
        </p:spPr>
      </p:pic>
    </p:spTree>
    <p:extLst>
      <p:ext uri="{BB962C8B-B14F-4D97-AF65-F5344CB8AC3E}">
        <p14:creationId xmlns:p14="http://schemas.microsoft.com/office/powerpoint/2010/main" val="285416823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648EE-0F1C-425D-AC98-ADE81B894149}"/>
              </a:ext>
            </a:extLst>
          </p:cNvPr>
          <p:cNvSpPr>
            <a:spLocks noGrp="1"/>
          </p:cNvSpPr>
          <p:nvPr>
            <p:ph type="title" idx="4294967295"/>
          </p:nvPr>
        </p:nvSpPr>
        <p:spPr>
          <a:xfrm>
            <a:off x="0" y="377825"/>
            <a:ext cx="7042150" cy="1114425"/>
          </a:xfrm>
        </p:spPr>
        <p:txBody>
          <a:bodyPr>
            <a:normAutofit fontScale="90000"/>
          </a:bodyPr>
          <a:lstStyle/>
          <a:p>
            <a:r>
              <a:rPr lang="en-US" b="1" dirty="0">
                <a:solidFill>
                  <a:srgbClr val="0D0D0D"/>
                </a:solidFill>
                <a:highlight>
                  <a:srgbClr val="FFFFFF"/>
                </a:highlight>
                <a:latin typeface="Times New Roman" panose="02020603050405020304" charset="0"/>
                <a:cs typeface="Times New Roman" panose="02020603050405020304" charset="0"/>
              </a:rPr>
              <a:t>Market Gap and Opportunity</a:t>
            </a:r>
            <a:endParaRPr lang="en-IN" b="1" dirty="0"/>
          </a:p>
        </p:txBody>
      </p:sp>
      <p:sp>
        <p:nvSpPr>
          <p:cNvPr id="5" name="Rectangle 2">
            <a:extLst>
              <a:ext uri="{FF2B5EF4-FFF2-40B4-BE49-F238E27FC236}">
                <a16:creationId xmlns:a16="http://schemas.microsoft.com/office/drawing/2014/main" id="{CC4C1DF8-CC8C-48FA-BE6C-1E6F15C4FCAB}"/>
              </a:ext>
            </a:extLst>
          </p:cNvPr>
          <p:cNvSpPr>
            <a:spLocks noChangeArrowheads="1"/>
          </p:cNvSpPr>
          <p:nvPr/>
        </p:nvSpPr>
        <p:spPr bwMode="auto">
          <a:xfrm>
            <a:off x="1129552" y="2050540"/>
            <a:ext cx="9345706"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platforms like Spotify focus heavily on music streaming but lack robust social interaction features.</a:t>
            </a:r>
          </a:p>
          <a:p>
            <a:pPr marR="0" lvl="0" algn="l" defTabSz="914400" rtl="0" eaLnBrk="0" fontAlgn="base" latinLnBrk="0" hangingPunct="0">
              <a:lnSpc>
                <a:spcPct val="100000"/>
              </a:lnSpc>
              <a:spcBef>
                <a:spcPct val="0"/>
              </a:spcBef>
              <a:spcAft>
                <a:spcPct val="0"/>
              </a:spcAft>
              <a:buClrTx/>
              <a:buSzTx/>
              <a:tabLst/>
            </a:pPr>
            <a:endParaRPr lang="en-US" altLang="en-US" sz="2000" dirty="0">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Apps like Discord provide voice chat but are not built around music discovery and sharing.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en-US" altLang="en-US" sz="20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TuneTalk combines the best aspects of both worlds—music discovery and social engagement—by allowing users to seamlessly switch between voice chats and music sharing, enabling personalized and social experiences.</a:t>
            </a: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66381974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7E4AA-123B-4CDE-86A2-09DE7940D4BF}"/>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latin typeface="Times New Roman" panose="02020603050405020304" charset="0"/>
                <a:cs typeface="Times New Roman" panose="02020603050405020304" charset="0"/>
              </a:rPr>
              <a:t>Objectives</a:t>
            </a:r>
            <a:endParaRPr lang="en-US" b="1" dirty="0">
              <a:latin typeface="Times New Roman" panose="02020603050405020304" charset="0"/>
              <a:cs typeface="Times New Roman" panose="02020603050405020304" charset="0"/>
            </a:endParaRPr>
          </a:p>
        </p:txBody>
      </p:sp>
      <p:sp>
        <p:nvSpPr>
          <p:cNvPr id="3" name="Content Placeholder 2">
            <a:extLst>
              <a:ext uri="{FF2B5EF4-FFF2-40B4-BE49-F238E27FC236}">
                <a16:creationId xmlns:a16="http://schemas.microsoft.com/office/drawing/2014/main" id="{3E7950F1-82F5-49D8-A7C5-CA554DA40B29}"/>
              </a:ext>
            </a:extLst>
          </p:cNvPr>
          <p:cNvSpPr txBox="1"/>
          <p:nvPr/>
        </p:nvSpPr>
        <p:spPr>
          <a:xfrm>
            <a:off x="0" y="1384935"/>
            <a:ext cx="8044180" cy="5473700"/>
          </a:xfrm>
          <a:prstGeom prst="rect">
            <a:avLst/>
          </a:prstGeom>
        </p:spPr>
        <p:txBody>
          <a:bodyPr vert="horz" lIns="91440" tIns="45720" rIns="91440" bIns="45720" rtlCol="0">
            <a:normAutofit fontScale="97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v"/>
            </a:pPr>
            <a:r>
              <a:rPr lang="en-US" sz="2400" dirty="0"/>
              <a:t> Eliminate the need for users to switch between multiple apps by offering integrated</a:t>
            </a:r>
            <a:r>
              <a:rPr lang="en-US" sz="2400" dirty="0">
                <a:sym typeface="+mn-ea"/>
              </a:rPr>
              <a:t> music streaming and voice communication features into a unified platform.</a:t>
            </a:r>
          </a:p>
          <a:p>
            <a:pPr>
              <a:lnSpc>
                <a:spcPct val="150000"/>
              </a:lnSpc>
              <a:buFont typeface="Wingdings" panose="05000000000000000000" charset="0"/>
              <a:buChar char="v"/>
            </a:pPr>
            <a:r>
              <a:rPr lang="en-US" sz="2400" dirty="0"/>
              <a:t>Enhance user experience by providing </a:t>
            </a:r>
          </a:p>
          <a:p>
            <a:pPr marL="457200" indent="-457200">
              <a:lnSpc>
                <a:spcPct val="150000"/>
              </a:lnSpc>
              <a:buFont typeface="+mj-lt"/>
              <a:buAutoNum type="arabicPeriod"/>
            </a:pPr>
            <a:r>
              <a:rPr lang="en-US" sz="2400" dirty="0"/>
              <a:t>a extra additional volume beside the phone volume </a:t>
            </a:r>
          </a:p>
          <a:p>
            <a:pPr marL="457200" indent="-457200">
              <a:lnSpc>
                <a:spcPct val="150000"/>
              </a:lnSpc>
              <a:buFont typeface="+mj-lt"/>
              <a:buAutoNum type="arabicPeriod"/>
            </a:pPr>
            <a:r>
              <a:rPr lang="en-US" sz="2400" dirty="0"/>
              <a:t>audio quality and sound effect(bass booster,best fit,vocal booster)</a:t>
            </a:r>
          </a:p>
          <a:p>
            <a:pPr marL="457200" indent="-457200">
              <a:lnSpc>
                <a:spcPct val="150000"/>
              </a:lnSpc>
              <a:buFont typeface="+mj-lt"/>
              <a:buAutoNum type="arabicPeriod"/>
            </a:pPr>
            <a:r>
              <a:rPr lang="en-US" sz="2400" dirty="0"/>
              <a:t>lyrics and when displayed over other apps we can see lyrics is visible on the locked screen too</a:t>
            </a:r>
          </a:p>
          <a:p>
            <a:pPr marL="0" indent="0">
              <a:lnSpc>
                <a:spcPct val="150000"/>
              </a:lnSpc>
              <a:buNone/>
            </a:pPr>
            <a:endParaRPr lang="en-IN" sz="2400" dirty="0">
              <a:latin typeface="Times New Roman" panose="02020603050405020304" charset="0"/>
              <a:cs typeface="Times New Roman" panose="02020603050405020304" charset="0"/>
            </a:endParaRPr>
          </a:p>
        </p:txBody>
      </p:sp>
      <p:pic>
        <p:nvPicPr>
          <p:cNvPr id="4" name="Content Placeholder 2" descr="objective">
            <a:extLst>
              <a:ext uri="{FF2B5EF4-FFF2-40B4-BE49-F238E27FC236}">
                <a16:creationId xmlns:a16="http://schemas.microsoft.com/office/drawing/2014/main" id="{F3FA8415-3214-4B3A-A5E9-47F7D609A762}"/>
              </a:ext>
            </a:extLst>
          </p:cNvPr>
          <p:cNvPicPr>
            <a:picLocks noChangeAspect="1"/>
          </p:cNvPicPr>
          <p:nvPr/>
        </p:nvPicPr>
        <p:blipFill>
          <a:blip r:embed="rId2"/>
          <a:stretch>
            <a:fillRect/>
          </a:stretch>
        </p:blipFill>
        <p:spPr>
          <a:xfrm>
            <a:off x="7761605" y="1532255"/>
            <a:ext cx="4287520" cy="4351655"/>
          </a:xfrm>
          <a:prstGeom prst="rect">
            <a:avLst/>
          </a:prstGeom>
          <a:ln>
            <a:solidFill>
              <a:schemeClr val="tx1"/>
            </a:solidFill>
          </a:ln>
        </p:spPr>
      </p:pic>
    </p:spTree>
    <p:extLst>
      <p:ext uri="{BB962C8B-B14F-4D97-AF65-F5344CB8AC3E}">
        <p14:creationId xmlns:p14="http://schemas.microsoft.com/office/powerpoint/2010/main" val="4176764865"/>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C97D8-D323-4CB0-AAEF-357C480C8F5F}"/>
              </a:ext>
            </a:extLst>
          </p:cNvPr>
          <p:cNvSpPr>
            <a:spLocks noGrp="1"/>
          </p:cNvSpPr>
          <p:nvPr>
            <p:ph type="title"/>
          </p:nvPr>
        </p:nvSpPr>
        <p:spPr>
          <a:xfrm>
            <a:off x="1846729" y="432362"/>
            <a:ext cx="8870576" cy="1248522"/>
          </a:xfrm>
        </p:spPr>
        <p:txBody>
          <a:bodyPr>
            <a:normAutofit/>
          </a:bodyPr>
          <a:lstStyle/>
          <a:p>
            <a:r>
              <a:rPr lang="en-US" sz="4000" b="1" dirty="0">
                <a:solidFill>
                  <a:srgbClr val="0D0D0D"/>
                </a:solidFill>
                <a:highlight>
                  <a:srgbClr val="FFFFFF"/>
                </a:highlight>
                <a:latin typeface="Times New Roman" panose="02020603050405020304" charset="0"/>
                <a:cs typeface="Times New Roman" panose="02020603050405020304" charset="0"/>
              </a:rPr>
              <a:t>Core Features and Functionalities</a:t>
            </a:r>
            <a:endParaRPr lang="en-IN" sz="4000" b="1" dirty="0"/>
          </a:p>
        </p:txBody>
      </p:sp>
      <p:sp>
        <p:nvSpPr>
          <p:cNvPr id="3" name="Content Placeholder 2">
            <a:extLst>
              <a:ext uri="{FF2B5EF4-FFF2-40B4-BE49-F238E27FC236}">
                <a16:creationId xmlns:a16="http://schemas.microsoft.com/office/drawing/2014/main" id="{A44312E1-9053-4CA6-B705-611DF8426482}"/>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TuneTalk allows users to create personalized playlists based on their listening habits, mood, and preferences.</a:t>
            </a:r>
          </a:p>
          <a:p>
            <a:r>
              <a:rPr lang="en-US" sz="2000" dirty="0">
                <a:latin typeface="Times New Roman" panose="02020603050405020304" pitchFamily="18" charset="0"/>
                <a:cs typeface="Times New Roman" panose="02020603050405020304" pitchFamily="18" charset="0"/>
              </a:rPr>
              <a:t>Users can </a:t>
            </a:r>
            <a:r>
              <a:rPr lang="en-US" sz="2000" b="1" dirty="0">
                <a:latin typeface="Times New Roman" panose="02020603050405020304" pitchFamily="18" charset="0"/>
                <a:cs typeface="Times New Roman" panose="02020603050405020304" pitchFamily="18" charset="0"/>
              </a:rPr>
              <a:t>send snippets </a:t>
            </a:r>
            <a:r>
              <a:rPr lang="en-US" sz="2000" dirty="0">
                <a:latin typeface="Times New Roman" panose="02020603050405020304" pitchFamily="18" charset="0"/>
                <a:cs typeface="Times New Roman" panose="02020603050405020304" pitchFamily="18" charset="0"/>
              </a:rPr>
              <a:t>of songs (e.g., 30 seconds) to their friends for quick listening, allowing others to decide whether they want to explore the full track.</a:t>
            </a:r>
          </a:p>
          <a:p>
            <a:r>
              <a:rPr lang="en-US" sz="2000" dirty="0">
                <a:latin typeface="Times New Roman" panose="02020603050405020304" pitchFamily="18" charset="0"/>
                <a:cs typeface="Times New Roman" panose="02020603050405020304" pitchFamily="18" charset="0"/>
              </a:rPr>
              <a:t>TuneTalk offers synchronization across multiple devices, ensuring users can seamlessly switch from their phone to their laptop or tablet without losing their place in the conversation or music playback.</a:t>
            </a:r>
          </a:p>
          <a:p>
            <a:r>
              <a:rPr lang="en-US" sz="2000" dirty="0">
                <a:latin typeface="Times New Roman" panose="02020603050405020304" pitchFamily="18" charset="0"/>
                <a:cs typeface="Times New Roman" panose="02020603050405020304" pitchFamily="18" charset="0"/>
              </a:rPr>
              <a:t>Users can participate in music-based challenges, such as guessing the song from a short snippet or identifying artists from their albums. Points or rewards can be earned for correct guesses, and leaderboards can track performance.</a:t>
            </a:r>
          </a:p>
          <a:p>
            <a:r>
              <a:rPr lang="en-US" sz="2000" dirty="0">
                <a:latin typeface="Times New Roman" panose="02020603050405020304" pitchFamily="18" charset="0"/>
                <a:cs typeface="Times New Roman" panose="02020603050405020304" pitchFamily="18" charset="0"/>
              </a:rPr>
              <a:t>Advanced audio effects such as smooth crossfades or transitions between songs in playlists, providing a DJ-like experience where songs blend seamlessly.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5829030"/>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322705" y="445808"/>
            <a:ext cx="5257800" cy="804769"/>
          </a:xfrm>
        </p:spPr>
        <p:txBody>
          <a:bodyPr/>
          <a:lstStyle/>
          <a:p>
            <a:r>
              <a:rPr lang="en-US" b="1" dirty="0">
                <a:solidFill>
                  <a:srgbClr val="0D0D0D"/>
                </a:solidFill>
                <a:highlight>
                  <a:srgbClr val="FFFFFF"/>
                </a:highlight>
                <a:latin typeface="Times New Roman" panose="02020603050405020304" charset="0"/>
                <a:cs typeface="Times New Roman" panose="02020603050405020304" charset="0"/>
              </a:rPr>
              <a:t>Technology Stack</a:t>
            </a:r>
          </a:p>
        </p:txBody>
      </p:sp>
      <p:sp>
        <p:nvSpPr>
          <p:cNvPr id="5" name="Content Placeholder 2"/>
          <p:cNvSpPr>
            <a:spLocks noGrp="1"/>
          </p:cNvSpPr>
          <p:nvPr>
            <p:ph sz="half" idx="1"/>
          </p:nvPr>
        </p:nvSpPr>
        <p:spPr>
          <a:xfrm>
            <a:off x="208280" y="1809115"/>
            <a:ext cx="11349990" cy="4777740"/>
          </a:xfrm>
        </p:spPr>
        <p:txBody>
          <a:bodyPr>
            <a:normAutofit fontScale="95000"/>
          </a:bodyPr>
          <a:lstStyle/>
          <a:p>
            <a:r>
              <a:rPr lang="en-IN" sz="2400" b="1" dirty="0"/>
              <a:t>Front-end Technologies</a:t>
            </a:r>
            <a:br>
              <a:rPr lang="en-IN" sz="2400" dirty="0"/>
            </a:br>
            <a:r>
              <a:rPr lang="en-IN" sz="2400" dirty="0"/>
              <a:t>- </a:t>
            </a:r>
            <a:r>
              <a:rPr lang="en-IN" sz="1900" dirty="0">
                <a:latin typeface="Times New Roman" panose="02020603050405020304" pitchFamily="18" charset="0"/>
                <a:cs typeface="Times New Roman" panose="02020603050405020304" pitchFamily="18" charset="0"/>
              </a:rPr>
              <a:t>Frameworks (React.js)</a:t>
            </a:r>
          </a:p>
          <a:p>
            <a:pPr marL="0" indent="0">
              <a:buNone/>
            </a:pPr>
            <a:r>
              <a:rPr lang="en-US" sz="1900" dirty="0">
                <a:latin typeface="Times New Roman" panose="02020603050405020304" pitchFamily="18" charset="0"/>
                <a:cs typeface="Times New Roman" panose="02020603050405020304" pitchFamily="18" charset="0"/>
              </a:rPr>
              <a:t>    -Tailwind CSS or Styled Components</a:t>
            </a:r>
            <a:endParaRPr lang="en-IN" sz="1900" dirty="0">
              <a:latin typeface="Times New Roman" panose="02020603050405020304" pitchFamily="18" charset="0"/>
              <a:cs typeface="Times New Roman" panose="02020603050405020304" pitchFamily="18" charset="0"/>
            </a:endParaRPr>
          </a:p>
          <a:p>
            <a:pPr marL="0" indent="0">
              <a:buNone/>
            </a:pPr>
            <a:r>
              <a:rPr lang="en-US" sz="1900" dirty="0">
                <a:latin typeface="Times New Roman" panose="02020603050405020304" pitchFamily="18" charset="0"/>
                <a:cs typeface="Times New Roman" panose="02020603050405020304" pitchFamily="18" charset="0"/>
              </a:rPr>
              <a:t>   - Redux or React Context API (for managing global state -&gt; user sessions, playlists,  and settings.)</a:t>
            </a:r>
          </a:p>
          <a:p>
            <a:pPr marL="0" indent="0">
              <a:buNone/>
            </a:pPr>
            <a:r>
              <a:rPr lang="en-US" sz="1900" dirty="0">
                <a:latin typeface="Times New Roman" panose="02020603050405020304" pitchFamily="18" charset="0"/>
                <a:cs typeface="Times New Roman" panose="02020603050405020304" pitchFamily="18" charset="0"/>
              </a:rPr>
              <a:t>    - Socket.IO</a:t>
            </a:r>
          </a:p>
          <a:p>
            <a:pPr marL="0" indent="0">
              <a:buNone/>
            </a:pPr>
            <a:r>
              <a:rPr lang="en-US" sz="1900" dirty="0">
                <a:latin typeface="Times New Roman" panose="02020603050405020304" pitchFamily="18" charset="0"/>
                <a:cs typeface="Times New Roman" panose="02020603050405020304" pitchFamily="18" charset="0"/>
              </a:rPr>
              <a:t>    - </a:t>
            </a:r>
            <a:r>
              <a:rPr lang="en-IN" sz="1900" dirty="0" err="1">
                <a:latin typeface="Times New Roman" panose="02020603050405020304" pitchFamily="18" charset="0"/>
                <a:cs typeface="Times New Roman" panose="02020603050405020304" pitchFamily="18" charset="0"/>
              </a:rPr>
              <a:t>Axios</a:t>
            </a:r>
            <a:r>
              <a:rPr lang="en-IN" sz="1900" dirty="0">
                <a:latin typeface="Times New Roman" panose="02020603050405020304" pitchFamily="18" charset="0"/>
                <a:cs typeface="Times New Roman" panose="02020603050405020304" pitchFamily="18" charset="0"/>
              </a:rPr>
              <a:t> or Fetch API(</a:t>
            </a:r>
            <a:r>
              <a:rPr lang="en-US" sz="1900" dirty="0">
                <a:latin typeface="Times New Roman" panose="02020603050405020304" pitchFamily="18" charset="0"/>
                <a:cs typeface="Times New Roman" panose="02020603050405020304" pitchFamily="18" charset="0"/>
              </a:rPr>
              <a:t>API requests for fetching music data, recommendations, user preferences)</a:t>
            </a:r>
          </a:p>
          <a:p>
            <a:r>
              <a:rPr lang="en-IN" sz="2400" b="1" dirty="0"/>
              <a:t>Back-end Technologies</a:t>
            </a:r>
            <a:br>
              <a:rPr lang="en-IN" sz="2400" dirty="0"/>
            </a:br>
            <a:r>
              <a:rPr lang="en-IN" sz="2400" dirty="0"/>
              <a:t>- </a:t>
            </a:r>
            <a:r>
              <a:rPr lang="en-US" sz="2000" dirty="0">
                <a:latin typeface="Times New Roman" panose="02020603050405020304" pitchFamily="18" charset="0"/>
                <a:cs typeface="Times New Roman" panose="02020603050405020304" pitchFamily="18" charset="0"/>
              </a:rPr>
              <a:t>Node.js with Express.js(multiple connections, such as real-time chat and voice communication.)</a:t>
            </a:r>
          </a:p>
          <a:p>
            <a:pPr marL="0" indent="0">
              <a:buNone/>
            </a:pPr>
            <a:r>
              <a:rPr lang="en-US" sz="2000" dirty="0">
                <a:latin typeface="Times New Roman" panose="02020603050405020304" pitchFamily="18" charset="0"/>
                <a:cs typeface="Times New Roman" panose="02020603050405020304" pitchFamily="18" charset="0"/>
              </a:rPr>
              <a:t>   - Socket.IO</a:t>
            </a:r>
          </a:p>
          <a:p>
            <a:pPr marL="0" indent="0">
              <a:buNone/>
            </a:pPr>
            <a:r>
              <a:rPr lang="en-US" sz="2000" dirty="0">
                <a:latin typeface="Times New Roman" panose="02020603050405020304" pitchFamily="18" charset="0"/>
                <a:cs typeface="Times New Roman" panose="02020603050405020304" pitchFamily="18" charset="0"/>
              </a:rPr>
              <a:t>   - </a:t>
            </a:r>
            <a:r>
              <a:rPr lang="en-IN" sz="2000" dirty="0">
                <a:latin typeface="Times New Roman" panose="02020603050405020304" pitchFamily="18" charset="0"/>
                <a:cs typeface="Times New Roman" panose="02020603050405020304" pitchFamily="18" charset="0"/>
              </a:rPr>
              <a:t>Flask/Django( for mood detection, music recommendations)</a:t>
            </a:r>
          </a:p>
          <a:p>
            <a:pPr marL="0" indent="0">
              <a:buNone/>
            </a:pP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  - TensorFlow or </a:t>
            </a:r>
            <a:r>
              <a:rPr lang="en-IN" sz="2000" dirty="0" err="1">
                <a:latin typeface="Times New Roman" panose="02020603050405020304" pitchFamily="18" charset="0"/>
                <a:cs typeface="Times New Roman" panose="02020603050405020304" pitchFamily="18" charset="0"/>
              </a:rPr>
              <a:t>PyTorch</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For training and deploying machine learning models).</a:t>
            </a:r>
          </a:p>
        </p:txBody>
      </p:sp>
      <p:pic>
        <p:nvPicPr>
          <p:cNvPr id="6" name="Content Placeholder 5" descr="survey"/>
          <p:cNvPicPr>
            <a:picLocks noGrp="1" noChangeAspect="1"/>
          </p:cNvPicPr>
          <p:nvPr>
            <p:ph sz="half" idx="2"/>
          </p:nvPr>
        </p:nvPicPr>
        <p:blipFill>
          <a:blip r:embed="rId2"/>
          <a:srcRect t="13560"/>
          <a:stretch>
            <a:fillRect/>
          </a:stretch>
        </p:blipFill>
        <p:spPr>
          <a:xfrm>
            <a:off x="7415530" y="205740"/>
            <a:ext cx="3113405" cy="1603375"/>
          </a:xfrm>
          <a:prstGeom prst="rect">
            <a:avLst/>
          </a:prstGeom>
          <a:ln>
            <a:solidFill>
              <a:schemeClr val="tx1"/>
            </a:solidFill>
          </a:ln>
        </p:spPr>
      </p:pic>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06A5A-158F-46D4-9584-A7129F72DD60}"/>
              </a:ext>
            </a:extLst>
          </p:cNvPr>
          <p:cNvSpPr>
            <a:spLocks noGrp="1"/>
          </p:cNvSpPr>
          <p:nvPr>
            <p:ph type="title"/>
          </p:nvPr>
        </p:nvSpPr>
        <p:spPr>
          <a:xfrm>
            <a:off x="3231776" y="203760"/>
            <a:ext cx="4728883" cy="872005"/>
          </a:xfrm>
        </p:spPr>
        <p:txBody>
          <a:bodyPr/>
          <a:lstStyle/>
          <a:p>
            <a:r>
              <a:rPr lang="en-US" b="1" dirty="0">
                <a:solidFill>
                  <a:srgbClr val="0D0D0D"/>
                </a:solidFill>
                <a:highlight>
                  <a:srgbClr val="FFFFFF"/>
                </a:highlight>
                <a:latin typeface="Times New Roman" panose="02020603050405020304" charset="0"/>
                <a:cs typeface="Times New Roman" panose="02020603050405020304" charset="0"/>
              </a:rPr>
              <a:t>Technology Stack</a:t>
            </a:r>
            <a:endParaRPr lang="en-IN" b="1" dirty="0"/>
          </a:p>
        </p:txBody>
      </p:sp>
      <p:sp>
        <p:nvSpPr>
          <p:cNvPr id="5" name="Rectangle 4">
            <a:extLst>
              <a:ext uri="{FF2B5EF4-FFF2-40B4-BE49-F238E27FC236}">
                <a16:creationId xmlns:a16="http://schemas.microsoft.com/office/drawing/2014/main" id="{8F54D4F6-DE7F-435F-989A-F8598B4ED338}"/>
              </a:ext>
            </a:extLst>
          </p:cNvPr>
          <p:cNvSpPr/>
          <p:nvPr/>
        </p:nvSpPr>
        <p:spPr>
          <a:xfrm>
            <a:off x="837421" y="1509663"/>
            <a:ext cx="10041249" cy="4493538"/>
          </a:xfrm>
          <a:prstGeom prst="rect">
            <a:avLst/>
          </a:prstGeom>
        </p:spPr>
        <p:txBody>
          <a:bodyPr wrap="square">
            <a:spAutoFit/>
          </a:bodyPr>
          <a:lstStyle/>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Database and Data Storage</a:t>
            </a:r>
          </a:p>
          <a:p>
            <a:r>
              <a:rPr lang="en-US" dirty="0"/>
              <a:t>    </a:t>
            </a:r>
            <a:r>
              <a:rPr lang="en-US" sz="2000" dirty="0">
                <a:latin typeface="Times New Roman" panose="02020603050405020304" pitchFamily="18" charset="0"/>
                <a:cs typeface="Times New Roman" panose="02020603050405020304" pitchFamily="18" charset="0"/>
              </a:rPr>
              <a:t>-</a:t>
            </a:r>
            <a:r>
              <a:rPr lang="en-IN" sz="2000" b="1" dirty="0">
                <a:latin typeface="Times New Roman" panose="02020603050405020304" pitchFamily="18" charset="0"/>
                <a:cs typeface="Times New Roman" panose="02020603050405020304" pitchFamily="18" charset="0"/>
              </a:rPr>
              <a:t>PostgreSQL</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to store user data, playlists, listening history, chat logs)</a:t>
            </a:r>
          </a:p>
          <a:p>
            <a:r>
              <a:rPr lang="en-US" sz="2000" dirty="0">
                <a:latin typeface="Times New Roman" panose="02020603050405020304" pitchFamily="18" charset="0"/>
                <a:cs typeface="Times New Roman" panose="02020603050405020304" pitchFamily="18" charset="0"/>
              </a:rPr>
              <a:t>    - </a:t>
            </a:r>
            <a:r>
              <a:rPr lang="en-IN" sz="2000" b="1" dirty="0">
                <a:latin typeface="Times New Roman" panose="02020603050405020304" pitchFamily="18" charset="0"/>
                <a:cs typeface="Times New Roman" panose="02020603050405020304" pitchFamily="18" charset="0"/>
              </a:rPr>
              <a:t>MongoDB</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store real-time, unstructured data, such as chat messages, user activity logs, and real-time playlist collaborations.)</a:t>
            </a:r>
          </a:p>
          <a:p>
            <a:r>
              <a:rPr lang="en-US" sz="2000" dirty="0">
                <a:latin typeface="Times New Roman" panose="02020603050405020304" pitchFamily="18" charset="0"/>
                <a:cs typeface="Times New Roman" panose="02020603050405020304" pitchFamily="18" charset="0"/>
              </a:rPr>
              <a:t>   - </a:t>
            </a:r>
            <a:r>
              <a:rPr lang="en-IN" sz="2000" b="1" dirty="0">
                <a:latin typeface="Times New Roman" panose="02020603050405020304" pitchFamily="18" charset="0"/>
                <a:cs typeface="Times New Roman" panose="02020603050405020304" pitchFamily="18" charset="0"/>
              </a:rPr>
              <a:t>Redis</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For caching frequently accessed data, such as user playlists, recommendations, and recent search results, to improve performance and reduce database load.)</a:t>
            </a:r>
          </a:p>
          <a:p>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Google Cloud Storage(</a:t>
            </a:r>
            <a:r>
              <a:rPr lang="en-US" sz="2000" dirty="0">
                <a:latin typeface="Times New Roman" panose="02020603050405020304" pitchFamily="18" charset="0"/>
                <a:cs typeface="Times New Roman" panose="02020603050405020304" pitchFamily="18" charset="0"/>
              </a:rPr>
              <a:t>For storing large media files such as song snippets, cover art, or user-generated content like voice notes and remixes)</a:t>
            </a:r>
          </a:p>
          <a:p>
            <a:endParaRPr lang="en-US" dirty="0"/>
          </a:p>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Authentication and Security</a:t>
            </a:r>
          </a:p>
          <a:p>
            <a:r>
              <a:rPr lang="en-US" sz="2000" b="1" dirty="0"/>
              <a:t>   - </a:t>
            </a:r>
            <a:r>
              <a:rPr lang="en-IN" sz="2000" dirty="0">
                <a:latin typeface="Times New Roman" panose="02020603050405020304" pitchFamily="18" charset="0"/>
                <a:cs typeface="Times New Roman" panose="02020603050405020304" pitchFamily="18" charset="0"/>
              </a:rPr>
              <a:t>OAuth 2.0(</a:t>
            </a:r>
            <a:r>
              <a:rPr lang="en-US" sz="2000" dirty="0">
                <a:latin typeface="Times New Roman" panose="02020603050405020304" pitchFamily="18" charset="0"/>
                <a:cs typeface="Times New Roman" panose="02020603050405020304" pitchFamily="18" charset="0"/>
              </a:rPr>
              <a:t>for secure user login and third-party API integrations)</a:t>
            </a:r>
          </a:p>
          <a:p>
            <a:r>
              <a:rPr lang="en-US" sz="2000" b="1" dirty="0">
                <a:latin typeface="Times New Roman" panose="02020603050405020304" pitchFamily="18" charset="0"/>
                <a:cs typeface="Times New Roman" panose="02020603050405020304" pitchFamily="18" charset="0"/>
              </a:rPr>
              <a:t>   - for encryption </a:t>
            </a:r>
            <a:r>
              <a:rPr lang="en-IN" sz="2000" dirty="0">
                <a:latin typeface="Times New Roman" panose="02020603050405020304" pitchFamily="18" charset="0"/>
                <a:cs typeface="Times New Roman" panose="02020603050405020304" pitchFamily="18" charset="0"/>
              </a:rPr>
              <a:t>JWT (JSON Web Tokens) – (</a:t>
            </a:r>
            <a:r>
              <a:rPr lang="en-US" sz="2000" dirty="0">
                <a:latin typeface="Times New Roman" panose="02020603050405020304" pitchFamily="18" charset="0"/>
                <a:cs typeface="Times New Roman" panose="02020603050405020304" pitchFamily="18" charset="0"/>
              </a:rPr>
              <a:t>For secure authentication and maintaining user sessions)</a:t>
            </a:r>
          </a:p>
          <a:p>
            <a:r>
              <a:rPr lang="en-US" sz="2000" b="1" dirty="0">
                <a:latin typeface="Times New Roman" panose="02020603050405020304" pitchFamily="18" charset="0"/>
                <a:cs typeface="Times New Roman" panose="02020603050405020304" pitchFamily="18" charset="0"/>
              </a:rPr>
              <a:t>   - </a:t>
            </a:r>
            <a:r>
              <a:rPr lang="en-IN" sz="2000" dirty="0">
                <a:latin typeface="Times New Roman" panose="02020603050405020304" pitchFamily="18" charset="0"/>
                <a:cs typeface="Times New Roman" panose="02020603050405020304" pitchFamily="18" charset="0"/>
              </a:rPr>
              <a:t>End-to-End Encryption</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437169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577788" y="365125"/>
            <a:ext cx="8292353" cy="616510"/>
          </a:xfrm>
        </p:spPr>
        <p:txBody>
          <a:bodyPr>
            <a:normAutofit fontScale="90000"/>
          </a:bodyPr>
          <a:lstStyle/>
          <a:p>
            <a:pPr algn="ctr"/>
            <a:r>
              <a:rPr lang="en-US" b="1" dirty="0" err="1">
                <a:solidFill>
                  <a:srgbClr val="0D0D0D"/>
                </a:solidFill>
                <a:highlight>
                  <a:srgbClr val="FFFFFF"/>
                </a:highlight>
                <a:latin typeface="Times New Roman" panose="02020603050405020304" charset="0"/>
                <a:cs typeface="Times New Roman" panose="02020603050405020304" charset="0"/>
                <a:sym typeface="+mn-ea"/>
              </a:rPr>
              <a:t>UseCases</a:t>
            </a:r>
            <a:r>
              <a:rPr lang="en-US" b="1" dirty="0">
                <a:solidFill>
                  <a:srgbClr val="0D0D0D"/>
                </a:solidFill>
                <a:highlight>
                  <a:srgbClr val="FFFFFF"/>
                </a:highlight>
                <a:latin typeface="Times New Roman" panose="02020603050405020304" charset="0"/>
                <a:cs typeface="Times New Roman" panose="02020603050405020304" charset="0"/>
                <a:sym typeface="+mn-ea"/>
              </a:rPr>
              <a:t> and User Scenarios</a:t>
            </a:r>
            <a:endParaRPr lang="en-US" altLang="en-IN" b="1" dirty="0">
              <a:latin typeface="Times New Roman" panose="02020603050405020304" charset="0"/>
              <a:cs typeface="Times New Roman" panose="02020603050405020304" charset="0"/>
            </a:endParaRPr>
          </a:p>
        </p:txBody>
      </p:sp>
      <p:sp>
        <p:nvSpPr>
          <p:cNvPr id="11" name="Rectangle 3">
            <a:extLst>
              <a:ext uri="{FF2B5EF4-FFF2-40B4-BE49-F238E27FC236}">
                <a16:creationId xmlns:a16="http://schemas.microsoft.com/office/drawing/2014/main" id="{9559A279-1887-461D-AF6F-128B39CFC822}"/>
              </a:ext>
            </a:extLst>
          </p:cNvPr>
          <p:cNvSpPr>
            <a:spLocks noGrp="1" noChangeArrowheads="1"/>
          </p:cNvSpPr>
          <p:nvPr>
            <p:ph sz="half" idx="1"/>
          </p:nvPr>
        </p:nvSpPr>
        <p:spPr bwMode="auto">
          <a:xfrm>
            <a:off x="214851" y="1681427"/>
            <a:ext cx="1084729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Description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 sign up, log in, or log out of TuneTalk.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Actors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OAuth 2.0 Service (Google/Spotify)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Preconditions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user must have an account or can sign up using an OAuth provider.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opens the TuneTalk app/web.</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selects to log in using Google/Spotify or creates a new account.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authenticates the user using OAuth or JWT.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is redirected to the home page upon successful authentication.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Postconditions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is authenticated and granted access to their dashboard. </a:t>
            </a:r>
          </a:p>
        </p:txBody>
      </p:sp>
      <p:sp>
        <p:nvSpPr>
          <p:cNvPr id="12" name="Rectangle 11">
            <a:extLst>
              <a:ext uri="{FF2B5EF4-FFF2-40B4-BE49-F238E27FC236}">
                <a16:creationId xmlns:a16="http://schemas.microsoft.com/office/drawing/2014/main" id="{947C1962-2B61-4AAD-BAC6-C5ECFB453959}"/>
              </a:ext>
            </a:extLst>
          </p:cNvPr>
          <p:cNvSpPr/>
          <p:nvPr/>
        </p:nvSpPr>
        <p:spPr>
          <a:xfrm>
            <a:off x="214851" y="1312724"/>
            <a:ext cx="2725874" cy="400110"/>
          </a:xfrm>
          <a:prstGeom prst="rect">
            <a:avLst/>
          </a:prstGeom>
        </p:spPr>
        <p:txBody>
          <a:bodyPr wrap="none">
            <a:spAutoFit/>
          </a:bodyPr>
          <a:lstStyle/>
          <a:p>
            <a:pPr marL="342900" indent="-342900">
              <a:buFont typeface="+mj-lt"/>
              <a:buAutoNum type="arabicPeriod"/>
            </a:pPr>
            <a:r>
              <a:rPr lang="en-IN" sz="2000" b="1" dirty="0">
                <a:latin typeface="Times New Roman" panose="02020603050405020304" pitchFamily="18" charset="0"/>
                <a:cs typeface="Times New Roman" panose="02020603050405020304" pitchFamily="18" charset="0"/>
              </a:rPr>
              <a:t>User Authentication</a:t>
            </a:r>
          </a:p>
        </p:txBody>
      </p:sp>
      <p:sp>
        <p:nvSpPr>
          <p:cNvPr id="13" name="Rectangle 12">
            <a:extLst>
              <a:ext uri="{FF2B5EF4-FFF2-40B4-BE49-F238E27FC236}">
                <a16:creationId xmlns:a16="http://schemas.microsoft.com/office/drawing/2014/main" id="{6452FB65-3179-4E02-88CC-7392AFB477F5}"/>
              </a:ext>
            </a:extLst>
          </p:cNvPr>
          <p:cNvSpPr/>
          <p:nvPr/>
        </p:nvSpPr>
        <p:spPr>
          <a:xfrm>
            <a:off x="214851" y="3989751"/>
            <a:ext cx="3607462" cy="400110"/>
          </a:xfrm>
          <a:prstGeom prst="rect">
            <a:avLst/>
          </a:prstGeom>
        </p:spPr>
        <p:txBody>
          <a:bodyPr wrap="none">
            <a:spAutoFit/>
          </a:bodyPr>
          <a:lstStyle/>
          <a:p>
            <a:r>
              <a:rPr lang="en-IN" sz="2000" b="1" dirty="0">
                <a:latin typeface="Times New Roman" panose="02020603050405020304" pitchFamily="18" charset="0"/>
                <a:cs typeface="Times New Roman" panose="02020603050405020304" pitchFamily="18" charset="0"/>
              </a:rPr>
              <a:t>2.    Search and Discover Music</a:t>
            </a:r>
          </a:p>
        </p:txBody>
      </p:sp>
      <p:sp>
        <p:nvSpPr>
          <p:cNvPr id="15" name="Rectangle 5">
            <a:extLst>
              <a:ext uri="{FF2B5EF4-FFF2-40B4-BE49-F238E27FC236}">
                <a16:creationId xmlns:a16="http://schemas.microsoft.com/office/drawing/2014/main" id="{FAAFE63C-21E2-4662-B01C-AD093592F220}"/>
              </a:ext>
            </a:extLst>
          </p:cNvPr>
          <p:cNvSpPr>
            <a:spLocks noChangeArrowheads="1"/>
          </p:cNvSpPr>
          <p:nvPr/>
        </p:nvSpPr>
        <p:spPr bwMode="auto">
          <a:xfrm>
            <a:off x="107275" y="4358454"/>
            <a:ext cx="805478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Actors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Music API (Spotify/YouTube)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Preconditions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user is logged 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types a query or uses a voice command to search for a song or artist.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fetches the results from the Music API (e.g., Spotify API).</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also generates recommendations based on the user’s history or mood.</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selects a track from the results to play.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Postconditions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Music starts playing, and related music suggestions are shown.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Description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 search for music or discover new tracks through recommendations.</a:t>
            </a:r>
          </a:p>
        </p:txBody>
      </p:sp>
      <p:pic>
        <p:nvPicPr>
          <p:cNvPr id="17" name="Picture 16">
            <a:extLst>
              <a:ext uri="{FF2B5EF4-FFF2-40B4-BE49-F238E27FC236}">
                <a16:creationId xmlns:a16="http://schemas.microsoft.com/office/drawing/2014/main" id="{2167FD3A-F140-4AEB-905F-892A02451B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4946" y="2484801"/>
            <a:ext cx="4524678" cy="3478828"/>
          </a:xfrm>
          <a:prstGeom prst="rect">
            <a:avLst/>
          </a:prstGeom>
        </p:spPr>
      </p:pic>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47C1962-2B61-4AAD-BAC6-C5ECFB453959}"/>
              </a:ext>
            </a:extLst>
          </p:cNvPr>
          <p:cNvSpPr/>
          <p:nvPr/>
        </p:nvSpPr>
        <p:spPr>
          <a:xfrm>
            <a:off x="308980" y="384877"/>
            <a:ext cx="3689023" cy="400110"/>
          </a:xfrm>
          <a:prstGeom prst="rect">
            <a:avLst/>
          </a:prstGeom>
        </p:spPr>
        <p:txBody>
          <a:bodyPr wrap="none">
            <a:spAutoFit/>
          </a:bodyPr>
          <a:lstStyle/>
          <a:p>
            <a:r>
              <a:rPr lang="en-US" sz="2000" b="1" dirty="0">
                <a:latin typeface="Times New Roman" panose="02020603050405020304" pitchFamily="18" charset="0"/>
                <a:cs typeface="Times New Roman" panose="02020603050405020304" pitchFamily="18" charset="0"/>
              </a:rPr>
              <a:t>3. </a:t>
            </a:r>
            <a:r>
              <a:rPr lang="en-IN" sz="2000" b="1" dirty="0">
                <a:latin typeface="Times New Roman" panose="02020603050405020304" pitchFamily="18" charset="0"/>
                <a:cs typeface="Times New Roman" panose="02020603050405020304" pitchFamily="18" charset="0"/>
              </a:rPr>
              <a:t>Playlist Creation and Sharing</a:t>
            </a:r>
          </a:p>
        </p:txBody>
      </p:sp>
      <p:sp>
        <p:nvSpPr>
          <p:cNvPr id="13" name="Rectangle 12">
            <a:extLst>
              <a:ext uri="{FF2B5EF4-FFF2-40B4-BE49-F238E27FC236}">
                <a16:creationId xmlns:a16="http://schemas.microsoft.com/office/drawing/2014/main" id="{6452FB65-3179-4E02-88CC-7392AFB477F5}"/>
              </a:ext>
            </a:extLst>
          </p:cNvPr>
          <p:cNvSpPr/>
          <p:nvPr/>
        </p:nvSpPr>
        <p:spPr>
          <a:xfrm>
            <a:off x="483791" y="3429000"/>
            <a:ext cx="4541628" cy="400110"/>
          </a:xfrm>
          <a:prstGeom prst="rect">
            <a:avLst/>
          </a:prstGeom>
        </p:spPr>
        <p:txBody>
          <a:bodyPr wrap="none">
            <a:spAutoFit/>
          </a:bodyPr>
          <a:lstStyle/>
          <a:p>
            <a:r>
              <a:rPr lang="en-US" sz="2000" b="1" dirty="0">
                <a:latin typeface="Times New Roman" panose="02020603050405020304" pitchFamily="18" charset="0"/>
                <a:cs typeface="Times New Roman" panose="02020603050405020304" pitchFamily="18" charset="0"/>
              </a:rPr>
              <a:t>4</a:t>
            </a:r>
            <a:r>
              <a:rPr lang="en-IN" sz="2000" b="1" dirty="0">
                <a:latin typeface="Times New Roman" panose="02020603050405020304" pitchFamily="18" charset="0"/>
                <a:cs typeface="Times New Roman" panose="02020603050405020304" pitchFamily="18" charset="0"/>
              </a:rPr>
              <a:t>. Mood-Based Music Recommendation</a:t>
            </a:r>
          </a:p>
        </p:txBody>
      </p:sp>
      <p:sp>
        <p:nvSpPr>
          <p:cNvPr id="8" name="Rectangle 2">
            <a:extLst>
              <a:ext uri="{FF2B5EF4-FFF2-40B4-BE49-F238E27FC236}">
                <a16:creationId xmlns:a16="http://schemas.microsoft.com/office/drawing/2014/main" id="{DAB8962C-F873-4A71-8308-406061EC4946}"/>
              </a:ext>
            </a:extLst>
          </p:cNvPr>
          <p:cNvSpPr>
            <a:spLocks noGrp="1" noChangeArrowheads="1"/>
          </p:cNvSpPr>
          <p:nvPr>
            <p:ph sz="half" idx="1"/>
          </p:nvPr>
        </p:nvSpPr>
        <p:spPr bwMode="auto">
          <a:xfrm>
            <a:off x="483791" y="692339"/>
            <a:ext cx="932777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Description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 create, modify, and share playlists with friends.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Actors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Friends (other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Preconditions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is logged in, and they have songs added to the playlist.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creates a new playlist by selecting songs.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can invite friends to collaborate on the playlist via chat or direct sharing.</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Friends can add or edit songs in the shared playlist.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Postconditions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playlist is collaboratively managed and updated by multiple users. </a:t>
            </a:r>
          </a:p>
        </p:txBody>
      </p:sp>
      <p:sp>
        <p:nvSpPr>
          <p:cNvPr id="9" name="Rectangle 3">
            <a:extLst>
              <a:ext uri="{FF2B5EF4-FFF2-40B4-BE49-F238E27FC236}">
                <a16:creationId xmlns:a16="http://schemas.microsoft.com/office/drawing/2014/main" id="{6B0068EF-6D49-4417-A1B0-8EE45DECC1D9}"/>
              </a:ext>
            </a:extLst>
          </p:cNvPr>
          <p:cNvSpPr>
            <a:spLocks noChangeArrowheads="1"/>
          </p:cNvSpPr>
          <p:nvPr/>
        </p:nvSpPr>
        <p:spPr bwMode="auto">
          <a:xfrm>
            <a:off x="308980" y="3935366"/>
            <a:ext cx="950258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Description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 get personalized recommendations based on their mood.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Actors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AI/ML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Preconditions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user has a listening history or has provided input (chat/voice).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detects the user’s mood through voice command or text chat sentiment.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on the detected mood, the system recommends songs/playlists.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user can play the recommended tracks or refine the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Postconditions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user listens to a playlist that matches their current mood. </a:t>
            </a:r>
          </a:p>
        </p:txBody>
      </p:sp>
    </p:spTree>
    <p:extLst>
      <p:ext uri="{BB962C8B-B14F-4D97-AF65-F5344CB8AC3E}">
        <p14:creationId xmlns:p14="http://schemas.microsoft.com/office/powerpoint/2010/main" val="342620883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47C1962-2B61-4AAD-BAC6-C5ECFB453959}"/>
              </a:ext>
            </a:extLst>
          </p:cNvPr>
          <p:cNvSpPr/>
          <p:nvPr/>
        </p:nvSpPr>
        <p:spPr>
          <a:xfrm>
            <a:off x="483791" y="292229"/>
            <a:ext cx="2843342" cy="400110"/>
          </a:xfrm>
          <a:prstGeom prst="rect">
            <a:avLst/>
          </a:prstGeom>
        </p:spPr>
        <p:txBody>
          <a:bodyPr wrap="none">
            <a:spAutoFit/>
          </a:bodyPr>
          <a:lstStyle/>
          <a:p>
            <a:r>
              <a:rPr lang="en-IN" sz="2000" b="1" dirty="0">
                <a:latin typeface="Times New Roman" panose="02020603050405020304" pitchFamily="18" charset="0"/>
                <a:cs typeface="Times New Roman" panose="02020603050405020304" pitchFamily="18" charset="0"/>
              </a:rPr>
              <a:t>5. Real-Time Voice Chat</a:t>
            </a:r>
          </a:p>
        </p:txBody>
      </p:sp>
      <p:sp>
        <p:nvSpPr>
          <p:cNvPr id="13" name="Rectangle 12">
            <a:extLst>
              <a:ext uri="{FF2B5EF4-FFF2-40B4-BE49-F238E27FC236}">
                <a16:creationId xmlns:a16="http://schemas.microsoft.com/office/drawing/2014/main" id="{6452FB65-3179-4E02-88CC-7392AFB477F5}"/>
              </a:ext>
            </a:extLst>
          </p:cNvPr>
          <p:cNvSpPr/>
          <p:nvPr/>
        </p:nvSpPr>
        <p:spPr>
          <a:xfrm>
            <a:off x="483791" y="3429000"/>
            <a:ext cx="4896084" cy="400110"/>
          </a:xfrm>
          <a:prstGeom prst="rect">
            <a:avLst/>
          </a:prstGeom>
        </p:spPr>
        <p:txBody>
          <a:bodyPr wrap="none">
            <a:spAutoFit/>
          </a:bodyPr>
          <a:lstStyle/>
          <a:p>
            <a:r>
              <a:rPr lang="en-US" sz="2000" b="1" dirty="0">
                <a:latin typeface="Times New Roman" panose="02020603050405020304" pitchFamily="18" charset="0"/>
                <a:cs typeface="Times New Roman" panose="02020603050405020304" pitchFamily="18" charset="0"/>
              </a:rPr>
              <a:t>6. Real-Time Collaborative Playlist Editing</a:t>
            </a:r>
            <a:endParaRPr lang="en-IN" sz="20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E2B55AC-F3A1-4A9E-8A20-6772E8166959}"/>
              </a:ext>
            </a:extLst>
          </p:cNvPr>
          <p:cNvSpPr>
            <a:spLocks noGrp="1" noChangeArrowheads="1"/>
          </p:cNvSpPr>
          <p:nvPr>
            <p:ph sz="half" idx="1"/>
          </p:nvPr>
        </p:nvSpPr>
        <p:spPr bwMode="auto">
          <a:xfrm>
            <a:off x="341032" y="675865"/>
            <a:ext cx="997286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Description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 engage in voice conversations with friends while listening to music.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Actors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Friend(s)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Preconditions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must be online, and WebSocket/RTC is enabled.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invites a friend to a voice chat while a song is playing.</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establishes a WebRTC connection between users for real-time audio communication.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talk while listening to synchronized music.</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leave the chat or mute the music without ending the voice session.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Postconditions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voice chat ends when users disconnect. </a:t>
            </a:r>
          </a:p>
        </p:txBody>
      </p:sp>
      <p:sp>
        <p:nvSpPr>
          <p:cNvPr id="6" name="Rectangle 3">
            <a:extLst>
              <a:ext uri="{FF2B5EF4-FFF2-40B4-BE49-F238E27FC236}">
                <a16:creationId xmlns:a16="http://schemas.microsoft.com/office/drawing/2014/main" id="{9D3AEA3A-A84A-4CF3-A2FA-916253870061}"/>
              </a:ext>
            </a:extLst>
          </p:cNvPr>
          <p:cNvSpPr>
            <a:spLocks noChangeArrowheads="1"/>
          </p:cNvSpPr>
          <p:nvPr/>
        </p:nvSpPr>
        <p:spPr bwMode="auto">
          <a:xfrm>
            <a:off x="341032" y="4074669"/>
            <a:ext cx="886973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Description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 collaboratively add, delete, or reorder songs in a playlist in real-time.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Actors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Collaborators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Preconditions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user has shared a playlist with others.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Collaborators can add, remove, or rearrange songs in real time.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collaborators see the changes instantly (using WebSocket for real-time updates).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initiates collaboration by sharing a playlist link or inviting others via chat.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Postconditions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Playlist is updated in real time, and all changes are synchronized. </a:t>
            </a:r>
          </a:p>
        </p:txBody>
      </p:sp>
    </p:spTree>
    <p:extLst>
      <p:ext uri="{BB962C8B-B14F-4D97-AF65-F5344CB8AC3E}">
        <p14:creationId xmlns:p14="http://schemas.microsoft.com/office/powerpoint/2010/main" val="94131262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47C1962-2B61-4AAD-BAC6-C5ECFB453959}"/>
              </a:ext>
            </a:extLst>
          </p:cNvPr>
          <p:cNvSpPr/>
          <p:nvPr/>
        </p:nvSpPr>
        <p:spPr>
          <a:xfrm>
            <a:off x="483791" y="292229"/>
            <a:ext cx="3463192" cy="400110"/>
          </a:xfrm>
          <a:prstGeom prst="rect">
            <a:avLst/>
          </a:prstGeom>
        </p:spPr>
        <p:txBody>
          <a:bodyPr wrap="none">
            <a:spAutoFit/>
          </a:bodyPr>
          <a:lstStyle/>
          <a:p>
            <a:r>
              <a:rPr lang="en-IN" sz="2000" b="1" dirty="0">
                <a:latin typeface="Times New Roman" panose="02020603050405020304" pitchFamily="18" charset="0"/>
                <a:cs typeface="Times New Roman" panose="02020603050405020304" pitchFamily="18" charset="0"/>
              </a:rPr>
              <a:t>7. Real-Time Group Listening</a:t>
            </a:r>
          </a:p>
        </p:txBody>
      </p:sp>
      <p:sp>
        <p:nvSpPr>
          <p:cNvPr id="13" name="Rectangle 12">
            <a:extLst>
              <a:ext uri="{FF2B5EF4-FFF2-40B4-BE49-F238E27FC236}">
                <a16:creationId xmlns:a16="http://schemas.microsoft.com/office/drawing/2014/main" id="{6452FB65-3179-4E02-88CC-7392AFB477F5}"/>
              </a:ext>
            </a:extLst>
          </p:cNvPr>
          <p:cNvSpPr/>
          <p:nvPr/>
        </p:nvSpPr>
        <p:spPr>
          <a:xfrm>
            <a:off x="483791" y="3429000"/>
            <a:ext cx="3962944" cy="400110"/>
          </a:xfrm>
          <a:prstGeom prst="rect">
            <a:avLst/>
          </a:prstGeom>
        </p:spPr>
        <p:txBody>
          <a:bodyPr wrap="none">
            <a:spAutoFit/>
          </a:bodyPr>
          <a:lstStyle/>
          <a:p>
            <a:r>
              <a:rPr lang="en-US" sz="2000" b="1" dirty="0">
                <a:latin typeface="Times New Roman" panose="02020603050405020304" pitchFamily="18" charset="0"/>
                <a:cs typeface="Times New Roman" panose="02020603050405020304" pitchFamily="18" charset="0"/>
              </a:rPr>
              <a:t>8. Notifications and Social Sharing</a:t>
            </a:r>
            <a:endParaRPr lang="en-IN" sz="2000"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AC4C739D-40D1-4D57-AC81-B28F2D4CC01F}"/>
              </a:ext>
            </a:extLst>
          </p:cNvPr>
          <p:cNvSpPr>
            <a:spLocks noGrp="1" noChangeArrowheads="1"/>
          </p:cNvSpPr>
          <p:nvPr>
            <p:ph sz="half" idx="1"/>
          </p:nvPr>
        </p:nvSpPr>
        <p:spPr bwMode="auto">
          <a:xfrm>
            <a:off x="441464" y="875117"/>
            <a:ext cx="866887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Description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 synchronize music playback with friends in real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Actors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Friends (other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Preconditions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must be logged in, and their friends must be available.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initiates a group listening session by inviting friends.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synchronizes music playback across all connected users.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chat or voice chat while the music is playing.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Postconditions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 users listen to the same track at the same time. </a:t>
            </a:r>
          </a:p>
        </p:txBody>
      </p:sp>
      <p:sp>
        <p:nvSpPr>
          <p:cNvPr id="7" name="Rectangle 2">
            <a:extLst>
              <a:ext uri="{FF2B5EF4-FFF2-40B4-BE49-F238E27FC236}">
                <a16:creationId xmlns:a16="http://schemas.microsoft.com/office/drawing/2014/main" id="{DEDAD9DC-073B-4867-B87C-89C91564CDF2}"/>
              </a:ext>
            </a:extLst>
          </p:cNvPr>
          <p:cNvSpPr>
            <a:spLocks noChangeArrowheads="1"/>
          </p:cNvSpPr>
          <p:nvPr/>
        </p:nvSpPr>
        <p:spPr bwMode="auto">
          <a:xfrm>
            <a:off x="483791" y="3980448"/>
            <a:ext cx="995082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Description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receive notifications about music, playlist updates, or friend activities.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Actors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Notification Service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Preconditions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must be logged in and have notifications enabled.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receives a notification when a friend shares a playlist or song.</a:t>
            </a:r>
          </a:p>
          <a:p>
            <a:pPr eaLnBrk="0" fontAlgn="base" hangingPunct="0">
              <a:spcBef>
                <a:spcPct val="0"/>
              </a:spcBef>
              <a:spcAft>
                <a:spcPct val="0"/>
              </a:spcAft>
              <a:buFontTx/>
              <a:buAutoNum type="arabicPeriod"/>
            </a:pPr>
            <a:r>
              <a:rPr lang="en-US" altLang="en-US" dirty="0">
                <a:latin typeface="Times New Roman" panose="02020603050405020304" pitchFamily="18" charset="0"/>
                <a:cs typeface="Times New Roman" panose="02020603050405020304" pitchFamily="18" charset="0"/>
              </a:rPr>
              <a:t>System sends real-time notifications when friends are online or join a group session.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directly share songs via social platforms (Facebook, Twitter).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Postconditions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Notifications are displayed, and users can interact with them.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4734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2">
            <a:extLst>
              <a:ext uri="{FF2B5EF4-FFF2-40B4-BE49-F238E27FC236}">
                <a16:creationId xmlns:a16="http://schemas.microsoft.com/office/drawing/2014/main" id="{BD021697-603D-481A-B433-6FC07DB04056}"/>
              </a:ext>
            </a:extLst>
          </p:cNvPr>
          <p:cNvSpPr>
            <a:spLocks noGrp="1"/>
          </p:cNvSpPr>
          <p:nvPr>
            <p:ph type="sldNum" sz="quarter" idx="12"/>
          </p:nvPr>
        </p:nvSpPr>
        <p:spPr/>
        <p:txBody>
          <a:bodyPr/>
          <a:lstStyle/>
          <a:p>
            <a:fld id="{1D33FE99-77AD-4592-A048-80FD36C8F97A}" type="slidenum">
              <a:rPr lang="en-US" smtClean="0"/>
              <a:t>18</a:t>
            </a:fld>
            <a:endParaRPr lang="en-US"/>
          </a:p>
        </p:txBody>
      </p:sp>
      <p:sp>
        <p:nvSpPr>
          <p:cNvPr id="5" name="Title 10">
            <a:extLst>
              <a:ext uri="{FF2B5EF4-FFF2-40B4-BE49-F238E27FC236}">
                <a16:creationId xmlns:a16="http://schemas.microsoft.com/office/drawing/2014/main" id="{9708C5BF-C445-40A4-B305-F68FC65A496A}"/>
              </a:ext>
            </a:extLst>
          </p:cNvPr>
          <p:cNvSpPr>
            <a:spLocks noGrp="1"/>
          </p:cNvSpPr>
          <p:nvPr>
            <p:ph type="title" idx="4294967295"/>
          </p:nvPr>
        </p:nvSpPr>
        <p:spPr>
          <a:xfrm>
            <a:off x="0" y="365125"/>
            <a:ext cx="10515600" cy="1325563"/>
          </a:xfrm>
        </p:spPr>
        <p:txBody>
          <a:bodyPr/>
          <a:lstStyle/>
          <a:p>
            <a:pPr algn="ctr"/>
            <a:r>
              <a:rPr lang="en-US" b="1" dirty="0">
                <a:latin typeface="Times New Roman" panose="02020603050405020304" charset="0"/>
                <a:cs typeface="Times New Roman" panose="02020603050405020304" charset="0"/>
              </a:rPr>
              <a:t>Project Planning</a:t>
            </a:r>
          </a:p>
        </p:txBody>
      </p:sp>
      <p:sp>
        <p:nvSpPr>
          <p:cNvPr id="6" name="Content Placeholder 11">
            <a:extLst>
              <a:ext uri="{FF2B5EF4-FFF2-40B4-BE49-F238E27FC236}">
                <a16:creationId xmlns:a16="http://schemas.microsoft.com/office/drawing/2014/main" id="{F82644D5-FD29-4994-9951-57E510AF82DB}"/>
              </a:ext>
            </a:extLst>
          </p:cNvPr>
          <p:cNvSpPr>
            <a:spLocks noGrp="1"/>
          </p:cNvSpPr>
          <p:nvPr>
            <p:ph sz="half" idx="4294967295"/>
          </p:nvPr>
        </p:nvSpPr>
        <p:spPr>
          <a:xfrm>
            <a:off x="0" y="1825625"/>
            <a:ext cx="7432675" cy="4351338"/>
          </a:xfrm>
        </p:spPr>
        <p:txBody>
          <a:bodyPr>
            <a:noAutofit/>
          </a:bodyPr>
          <a:lstStyle/>
          <a:p>
            <a:pPr algn="just">
              <a:buFont typeface="Arial" panose="020B0604020202020204" pitchFamily="34" charset="0"/>
              <a:buChar char="•"/>
            </a:pPr>
            <a:r>
              <a:rPr lang="en-US" sz="2200" b="1" i="0" dirty="0">
                <a:solidFill>
                  <a:srgbClr val="0D0D0D"/>
                </a:solidFill>
                <a:effectLst/>
                <a:highlight>
                  <a:srgbClr val="FFFFFF"/>
                </a:highlight>
                <a:latin typeface="Times New Roman" panose="02020603050405020304" charset="0"/>
                <a:cs typeface="Times New Roman" panose="02020603050405020304" charset="0"/>
              </a:rPr>
              <a:t>Phase 1: Planning and Requirements Gathering</a:t>
            </a:r>
            <a:endParaRPr lang="en-US" sz="2200" b="0" i="0" dirty="0">
              <a:solidFill>
                <a:srgbClr val="0D0D0D"/>
              </a:solidFill>
              <a:effectLst/>
              <a:highlight>
                <a:srgbClr val="FFFFFF"/>
              </a:highlight>
              <a:latin typeface="Times New Roman" panose="02020603050405020304" charset="0"/>
              <a:cs typeface="Times New Roman" panose="02020603050405020304" charset="0"/>
            </a:endParaRPr>
          </a:p>
          <a:p>
            <a:pPr marL="742950" lvl="1" indent="-285750" algn="just">
              <a:buFont typeface="Arial" panose="020B0604020202020204" pitchFamily="34" charset="0"/>
              <a:buChar char="•"/>
            </a:pPr>
            <a:r>
              <a:rPr lang="en-US" sz="2200" b="1" i="0" dirty="0">
                <a:solidFill>
                  <a:srgbClr val="0D0D0D"/>
                </a:solidFill>
                <a:effectLst/>
                <a:highlight>
                  <a:srgbClr val="FFFFFF"/>
                </a:highlight>
                <a:latin typeface="Times New Roman" panose="02020603050405020304" charset="0"/>
                <a:cs typeface="Times New Roman" panose="02020603050405020304" charset="0"/>
              </a:rPr>
              <a:t>Duration:</a:t>
            </a:r>
            <a:r>
              <a:rPr lang="en-US" sz="2200" b="0" i="0" dirty="0">
                <a:solidFill>
                  <a:srgbClr val="0D0D0D"/>
                </a:solidFill>
                <a:effectLst/>
                <a:highlight>
                  <a:srgbClr val="FFFFFF"/>
                </a:highlight>
                <a:latin typeface="Times New Roman" panose="02020603050405020304" charset="0"/>
                <a:cs typeface="Times New Roman" panose="02020603050405020304" charset="0"/>
              </a:rPr>
              <a:t> April 2024</a:t>
            </a:r>
          </a:p>
          <a:p>
            <a:pPr marL="742950" lvl="1" indent="-285750" algn="just">
              <a:buFont typeface="Arial" panose="020B0604020202020204" pitchFamily="34" charset="0"/>
              <a:buChar char="•"/>
            </a:pPr>
            <a:r>
              <a:rPr lang="en-US" sz="2200" b="1" i="0" dirty="0">
                <a:solidFill>
                  <a:srgbClr val="0D0D0D"/>
                </a:solidFill>
                <a:effectLst/>
                <a:highlight>
                  <a:srgbClr val="FFFFFF"/>
                </a:highlight>
                <a:latin typeface="Times New Roman" panose="02020603050405020304" charset="0"/>
                <a:cs typeface="Times New Roman" panose="02020603050405020304" charset="0"/>
              </a:rPr>
              <a:t>Tasks:</a:t>
            </a:r>
            <a:r>
              <a:rPr lang="en-US" sz="2200" b="0" i="0" dirty="0">
                <a:solidFill>
                  <a:srgbClr val="0D0D0D"/>
                </a:solidFill>
                <a:effectLst/>
                <a:highlight>
                  <a:srgbClr val="FFFFFF"/>
                </a:highlight>
                <a:latin typeface="Times New Roman" panose="02020603050405020304" charset="0"/>
                <a:cs typeface="Times New Roman" panose="02020603050405020304" charset="0"/>
              </a:rPr>
              <a:t> Define project scope, identify requirements, and finalize project plan.</a:t>
            </a:r>
          </a:p>
          <a:p>
            <a:pPr marL="742950" lvl="1" indent="-285750" algn="just">
              <a:buFont typeface="Arial" panose="020B0604020202020204" pitchFamily="34" charset="0"/>
              <a:buChar char="•"/>
            </a:pPr>
            <a:r>
              <a:rPr lang="en-US" sz="2200" b="1" i="0" dirty="0">
                <a:solidFill>
                  <a:srgbClr val="0D0D0D"/>
                </a:solidFill>
                <a:effectLst/>
                <a:highlight>
                  <a:srgbClr val="FFFFFF"/>
                </a:highlight>
                <a:latin typeface="Times New Roman" panose="02020603050405020304" charset="0"/>
                <a:cs typeface="Times New Roman" panose="02020603050405020304" charset="0"/>
              </a:rPr>
              <a:t>Deadline:</a:t>
            </a:r>
            <a:r>
              <a:rPr lang="en-US" sz="2200" b="0" i="0" dirty="0">
                <a:solidFill>
                  <a:srgbClr val="0D0D0D"/>
                </a:solidFill>
                <a:effectLst/>
                <a:highlight>
                  <a:srgbClr val="FFFFFF"/>
                </a:highlight>
                <a:latin typeface="Times New Roman" panose="02020603050405020304" charset="0"/>
                <a:cs typeface="Times New Roman" panose="02020603050405020304" charset="0"/>
              </a:rPr>
              <a:t> End of April 2024</a:t>
            </a:r>
          </a:p>
          <a:p>
            <a:pPr algn="just">
              <a:buFont typeface="Arial" panose="020B0604020202020204" pitchFamily="34" charset="0"/>
              <a:buChar char="•"/>
            </a:pPr>
            <a:r>
              <a:rPr lang="en-US" sz="2200" b="1" i="0" dirty="0">
                <a:solidFill>
                  <a:srgbClr val="0D0D0D"/>
                </a:solidFill>
                <a:effectLst/>
                <a:highlight>
                  <a:srgbClr val="FFFFFF"/>
                </a:highlight>
                <a:latin typeface="Times New Roman" panose="02020603050405020304" charset="0"/>
                <a:cs typeface="Times New Roman" panose="02020603050405020304" charset="0"/>
              </a:rPr>
              <a:t>Phase 2: Design and Conceptualization</a:t>
            </a:r>
          </a:p>
          <a:p>
            <a:pPr marL="742950" lvl="1" indent="-285750" algn="just">
              <a:buFont typeface="Arial" panose="020B0604020202020204" pitchFamily="34" charset="0"/>
              <a:buChar char="•"/>
            </a:pPr>
            <a:r>
              <a:rPr lang="en-US" sz="2200" b="1" i="0" dirty="0">
                <a:solidFill>
                  <a:srgbClr val="0D0D0D"/>
                </a:solidFill>
                <a:effectLst/>
                <a:highlight>
                  <a:srgbClr val="FFFFFF"/>
                </a:highlight>
                <a:latin typeface="Times New Roman" panose="02020603050405020304" charset="0"/>
                <a:cs typeface="Times New Roman" panose="02020603050405020304" charset="0"/>
              </a:rPr>
              <a:t>Duration:</a:t>
            </a:r>
            <a:r>
              <a:rPr lang="en-US" sz="2200" b="0" i="0" dirty="0">
                <a:solidFill>
                  <a:srgbClr val="0D0D0D"/>
                </a:solidFill>
                <a:effectLst/>
                <a:highlight>
                  <a:srgbClr val="FFFFFF"/>
                </a:highlight>
                <a:latin typeface="Times New Roman" panose="02020603050405020304" charset="0"/>
                <a:cs typeface="Times New Roman" panose="02020603050405020304" charset="0"/>
              </a:rPr>
              <a:t> May - August 2024</a:t>
            </a:r>
          </a:p>
          <a:p>
            <a:pPr marL="742950" lvl="1" indent="-285750" algn="just">
              <a:buFont typeface="Arial" panose="020B0604020202020204" pitchFamily="34" charset="0"/>
              <a:buChar char="•"/>
            </a:pPr>
            <a:r>
              <a:rPr lang="en-US" sz="2200" b="1" i="0" dirty="0">
                <a:solidFill>
                  <a:srgbClr val="0D0D0D"/>
                </a:solidFill>
                <a:effectLst/>
                <a:highlight>
                  <a:srgbClr val="FFFFFF"/>
                </a:highlight>
                <a:latin typeface="Times New Roman" panose="02020603050405020304" charset="0"/>
                <a:cs typeface="Times New Roman" panose="02020603050405020304" charset="0"/>
              </a:rPr>
              <a:t>Tasks:</a:t>
            </a:r>
            <a:r>
              <a:rPr lang="en-US" sz="2200" b="0" i="0" dirty="0">
                <a:solidFill>
                  <a:srgbClr val="0D0D0D"/>
                </a:solidFill>
                <a:effectLst/>
                <a:highlight>
                  <a:srgbClr val="FFFFFF"/>
                </a:highlight>
                <a:latin typeface="Times New Roman" panose="02020603050405020304" charset="0"/>
                <a:cs typeface="Times New Roman" panose="02020603050405020304" charset="0"/>
              </a:rPr>
              <a:t> Develop wireframes and prototypes,Design user experience, Define feature set including volume controls, audio quality settings, and synchronized lyrics display.and conduct iterative testing.</a:t>
            </a:r>
          </a:p>
          <a:p>
            <a:pPr marL="742950" lvl="1" indent="-285750" algn="just">
              <a:buFont typeface="Arial" panose="020B0604020202020204" pitchFamily="34" charset="0"/>
              <a:buChar char="•"/>
            </a:pPr>
            <a:r>
              <a:rPr lang="en-US" sz="2200" b="1" i="0" dirty="0">
                <a:solidFill>
                  <a:srgbClr val="0D0D0D"/>
                </a:solidFill>
                <a:effectLst/>
                <a:highlight>
                  <a:srgbClr val="FFFFFF"/>
                </a:highlight>
                <a:latin typeface="Times New Roman" panose="02020603050405020304" charset="0"/>
                <a:cs typeface="Times New Roman" panose="02020603050405020304" charset="0"/>
              </a:rPr>
              <a:t>Milestones:</a:t>
            </a:r>
            <a:r>
              <a:rPr lang="en-US" sz="2200" b="0" i="0" dirty="0">
                <a:solidFill>
                  <a:srgbClr val="0D0D0D"/>
                </a:solidFill>
                <a:effectLst/>
                <a:highlight>
                  <a:srgbClr val="FFFFFF"/>
                </a:highlight>
                <a:latin typeface="Times New Roman" panose="02020603050405020304" charset="0"/>
                <a:cs typeface="Times New Roman" panose="02020603050405020304" charset="0"/>
              </a:rPr>
              <a:t> Prototype development (May 2024).</a:t>
            </a:r>
          </a:p>
          <a:p>
            <a:pPr marL="742950" lvl="1" indent="-285750" algn="just">
              <a:buFont typeface="Arial" panose="020B0604020202020204" pitchFamily="34" charset="0"/>
              <a:buChar char="•"/>
            </a:pPr>
            <a:r>
              <a:rPr lang="en-US" sz="2200" b="1" i="0" dirty="0">
                <a:solidFill>
                  <a:srgbClr val="0D0D0D"/>
                </a:solidFill>
                <a:effectLst/>
                <a:highlight>
                  <a:srgbClr val="FFFFFF"/>
                </a:highlight>
                <a:latin typeface="Times New Roman" panose="02020603050405020304" charset="0"/>
                <a:cs typeface="Times New Roman" panose="02020603050405020304" charset="0"/>
              </a:rPr>
              <a:t>Deadline:</a:t>
            </a:r>
            <a:r>
              <a:rPr lang="en-US" sz="2200" b="0" i="0" dirty="0">
                <a:solidFill>
                  <a:srgbClr val="0D0D0D"/>
                </a:solidFill>
                <a:effectLst/>
                <a:highlight>
                  <a:srgbClr val="FFFFFF"/>
                </a:highlight>
                <a:latin typeface="Times New Roman" panose="02020603050405020304" charset="0"/>
                <a:cs typeface="Times New Roman" panose="02020603050405020304" charset="0"/>
              </a:rPr>
              <a:t> End of August 2024</a:t>
            </a:r>
          </a:p>
        </p:txBody>
      </p:sp>
      <p:pic>
        <p:nvPicPr>
          <p:cNvPr id="8" name="Content Placeholder 14" descr="planning1">
            <a:extLst>
              <a:ext uri="{FF2B5EF4-FFF2-40B4-BE49-F238E27FC236}">
                <a16:creationId xmlns:a16="http://schemas.microsoft.com/office/drawing/2014/main" id="{EE97F4BE-238F-4AA6-9FAA-7C9AFB0B79C2}"/>
              </a:ext>
            </a:extLst>
          </p:cNvPr>
          <p:cNvPicPr>
            <a:picLocks noGrp="1" noChangeAspect="1"/>
          </p:cNvPicPr>
          <p:nvPr>
            <p:ph sz="half" idx="4294967295"/>
          </p:nvPr>
        </p:nvPicPr>
        <p:blipFill>
          <a:blip r:embed="rId2"/>
          <a:stretch>
            <a:fillRect/>
          </a:stretch>
        </p:blipFill>
        <p:spPr>
          <a:xfrm>
            <a:off x="8270875" y="1587500"/>
            <a:ext cx="3921125" cy="3448050"/>
          </a:xfrm>
          <a:prstGeom prst="rect">
            <a:avLst/>
          </a:prstGeom>
          <a:ln>
            <a:solidFill>
              <a:schemeClr val="tx1"/>
            </a:solidFill>
          </a:ln>
        </p:spPr>
      </p:pic>
    </p:spTree>
    <p:extLst>
      <p:ext uri="{BB962C8B-B14F-4D97-AF65-F5344CB8AC3E}">
        <p14:creationId xmlns:p14="http://schemas.microsoft.com/office/powerpoint/2010/main" val="2796116266"/>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8789D5FD-369C-433D-8662-7BA05864927E}"/>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latin typeface="Times New Roman" panose="02020603050405020304" charset="0"/>
                <a:cs typeface="Times New Roman" panose="02020603050405020304" charset="0"/>
              </a:rPr>
              <a:t>Project Planning</a:t>
            </a:r>
            <a:endParaRPr lang="en-US" b="1" dirty="0">
              <a:latin typeface="Times New Roman" panose="02020603050405020304" charset="0"/>
              <a:cs typeface="Times New Roman" panose="02020603050405020304" charset="0"/>
            </a:endParaRPr>
          </a:p>
        </p:txBody>
      </p:sp>
      <p:sp>
        <p:nvSpPr>
          <p:cNvPr id="3" name="Content Placeholder 4">
            <a:extLst>
              <a:ext uri="{FF2B5EF4-FFF2-40B4-BE49-F238E27FC236}">
                <a16:creationId xmlns:a16="http://schemas.microsoft.com/office/drawing/2014/main" id="{8EAEA90C-9422-4C05-836B-4F494817AAFD}"/>
              </a:ext>
            </a:extLst>
          </p:cNvPr>
          <p:cNvSpPr txBox="1">
            <a:spLocks/>
          </p:cNvSpPr>
          <p:nvPr/>
        </p:nvSpPr>
        <p:spPr>
          <a:xfrm>
            <a:off x="238125" y="1591310"/>
            <a:ext cx="7700010" cy="52666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200" b="1">
                <a:solidFill>
                  <a:srgbClr val="0D0D0D"/>
                </a:solidFill>
                <a:highlight>
                  <a:srgbClr val="FFFFFF"/>
                </a:highlight>
                <a:latin typeface="Times New Roman" panose="02020603050405020304" charset="0"/>
                <a:cs typeface="Times New Roman" panose="02020603050405020304" charset="0"/>
              </a:rPr>
              <a:t>Phase 3: Development and Implementation</a:t>
            </a:r>
          </a:p>
          <a:p>
            <a:pPr marL="742950" lvl="1" indent="-285750" algn="just"/>
            <a:r>
              <a:rPr lang="en-US" sz="2200" b="1">
                <a:solidFill>
                  <a:srgbClr val="0D0D0D"/>
                </a:solidFill>
                <a:highlight>
                  <a:srgbClr val="FFFFFF"/>
                </a:highlight>
                <a:latin typeface="Times New Roman" panose="02020603050405020304" charset="0"/>
                <a:cs typeface="Times New Roman" panose="02020603050405020304" charset="0"/>
              </a:rPr>
              <a:t>Duration:</a:t>
            </a:r>
            <a:r>
              <a:rPr lang="en-US" sz="2200">
                <a:solidFill>
                  <a:srgbClr val="0D0D0D"/>
                </a:solidFill>
                <a:highlight>
                  <a:srgbClr val="FFFFFF"/>
                </a:highlight>
                <a:latin typeface="Times New Roman" panose="02020603050405020304" charset="0"/>
                <a:cs typeface="Times New Roman" panose="02020603050405020304" charset="0"/>
              </a:rPr>
              <a:t> September - October 2024</a:t>
            </a:r>
          </a:p>
          <a:p>
            <a:pPr marL="742950" lvl="1" indent="-285750" algn="just"/>
            <a:r>
              <a:rPr lang="en-US" sz="2200" b="1">
                <a:solidFill>
                  <a:srgbClr val="0D0D0D"/>
                </a:solidFill>
                <a:highlight>
                  <a:srgbClr val="FFFFFF"/>
                </a:highlight>
                <a:latin typeface="Times New Roman" panose="02020603050405020304" charset="0"/>
                <a:cs typeface="Times New Roman" panose="02020603050405020304" charset="0"/>
              </a:rPr>
              <a:t>Tasks:</a:t>
            </a:r>
            <a:r>
              <a:rPr lang="en-US" sz="2200">
                <a:solidFill>
                  <a:srgbClr val="0D0D0D"/>
                </a:solidFill>
                <a:highlight>
                  <a:srgbClr val="FFFFFF"/>
                </a:highlight>
                <a:latin typeface="Times New Roman" panose="02020603050405020304" charset="0"/>
                <a:cs typeface="Times New Roman" panose="02020603050405020304" charset="0"/>
              </a:rPr>
              <a:t> Build the backend infrastructure,Develop frontend components,gather user feedback, andIntegrate third-party APIs for music catalog, lyrics database, and voice communication functionalities.</a:t>
            </a:r>
          </a:p>
          <a:p>
            <a:pPr marL="742950" lvl="1" indent="-285750" algn="just"/>
            <a:r>
              <a:rPr lang="en-US" sz="2200" b="1">
                <a:solidFill>
                  <a:srgbClr val="0D0D0D"/>
                </a:solidFill>
                <a:highlight>
                  <a:srgbClr val="FFFFFF"/>
                </a:highlight>
                <a:latin typeface="Times New Roman" panose="02020603050405020304" charset="0"/>
                <a:cs typeface="Times New Roman" panose="02020603050405020304" charset="0"/>
              </a:rPr>
              <a:t>Milestones:</a:t>
            </a:r>
            <a:r>
              <a:rPr lang="en-US" sz="2200">
                <a:solidFill>
                  <a:srgbClr val="0D0D0D"/>
                </a:solidFill>
                <a:highlight>
                  <a:srgbClr val="FFFFFF"/>
                </a:highlight>
                <a:latin typeface="Times New Roman" panose="02020603050405020304" charset="0"/>
                <a:cs typeface="Times New Roman" panose="02020603050405020304" charset="0"/>
              </a:rPr>
              <a:t> Full deployment (September 2024).</a:t>
            </a:r>
          </a:p>
          <a:p>
            <a:pPr marL="742950" lvl="1" indent="-285750" algn="just"/>
            <a:r>
              <a:rPr lang="en-US" sz="2200" b="1">
                <a:solidFill>
                  <a:srgbClr val="0D0D0D"/>
                </a:solidFill>
                <a:highlight>
                  <a:srgbClr val="FFFFFF"/>
                </a:highlight>
                <a:latin typeface="Times New Roman" panose="02020603050405020304" charset="0"/>
                <a:cs typeface="Times New Roman" panose="02020603050405020304" charset="0"/>
              </a:rPr>
              <a:t>Deadline:</a:t>
            </a:r>
            <a:r>
              <a:rPr lang="en-US" sz="2200">
                <a:solidFill>
                  <a:srgbClr val="0D0D0D"/>
                </a:solidFill>
                <a:highlight>
                  <a:srgbClr val="FFFFFF"/>
                </a:highlight>
                <a:latin typeface="Times New Roman" panose="02020603050405020304" charset="0"/>
                <a:cs typeface="Times New Roman" panose="02020603050405020304" charset="0"/>
              </a:rPr>
              <a:t> End of October 2024</a:t>
            </a:r>
          </a:p>
          <a:p>
            <a:pPr algn="just"/>
            <a:r>
              <a:rPr lang="en-US" sz="2200" b="1">
                <a:solidFill>
                  <a:srgbClr val="0D0D0D"/>
                </a:solidFill>
                <a:highlight>
                  <a:srgbClr val="FFFFFF"/>
                </a:highlight>
                <a:latin typeface="Times New Roman" panose="02020603050405020304" charset="0"/>
                <a:cs typeface="Times New Roman" panose="02020603050405020304" charset="0"/>
              </a:rPr>
              <a:t>Phase 4: Testing and Quality Assurance &amp; Deployment and Launch</a:t>
            </a:r>
          </a:p>
          <a:p>
            <a:pPr marL="742950" lvl="1" indent="-285750" algn="just"/>
            <a:r>
              <a:rPr lang="en-US" sz="2200" b="1">
                <a:solidFill>
                  <a:srgbClr val="0D0D0D"/>
                </a:solidFill>
                <a:highlight>
                  <a:srgbClr val="FFFFFF"/>
                </a:highlight>
                <a:latin typeface="Times New Roman" panose="02020603050405020304" charset="0"/>
                <a:cs typeface="Times New Roman" panose="02020603050405020304" charset="0"/>
              </a:rPr>
              <a:t>Duration:</a:t>
            </a:r>
            <a:r>
              <a:rPr lang="en-US" sz="2200">
                <a:solidFill>
                  <a:srgbClr val="0D0D0D"/>
                </a:solidFill>
                <a:highlight>
                  <a:srgbClr val="FFFFFF"/>
                </a:highlight>
                <a:latin typeface="Times New Roman" panose="02020603050405020304" charset="0"/>
                <a:cs typeface="Times New Roman" panose="02020603050405020304" charset="0"/>
              </a:rPr>
              <a:t> November - December 2024</a:t>
            </a:r>
          </a:p>
          <a:p>
            <a:pPr marL="742950" lvl="1" indent="-285750" algn="just"/>
            <a:r>
              <a:rPr lang="en-US" sz="2200" b="1">
                <a:solidFill>
                  <a:srgbClr val="0D0D0D"/>
                </a:solidFill>
                <a:highlight>
                  <a:srgbClr val="FFFFFF"/>
                </a:highlight>
                <a:latin typeface="Times New Roman" panose="02020603050405020304" charset="0"/>
                <a:cs typeface="Times New Roman" panose="02020603050405020304" charset="0"/>
              </a:rPr>
              <a:t>Tasks:</a:t>
            </a:r>
            <a:r>
              <a:rPr lang="en-US" sz="2200">
                <a:solidFill>
                  <a:srgbClr val="0D0D0D"/>
                </a:solidFill>
                <a:highlight>
                  <a:srgbClr val="FFFFFF"/>
                </a:highlight>
                <a:latin typeface="Times New Roman" panose="02020603050405020304" charset="0"/>
                <a:cs typeface="Times New Roman" panose="02020603050405020304" charset="0"/>
              </a:rPr>
              <a:t> functional testing,usability testing,Develop marketing and promotional materials,Monitor user feedback and analytics.</a:t>
            </a:r>
          </a:p>
          <a:p>
            <a:pPr marL="742950" lvl="1" indent="-285750" algn="just"/>
            <a:r>
              <a:rPr lang="en-US" sz="2200" b="1">
                <a:solidFill>
                  <a:srgbClr val="0D0D0D"/>
                </a:solidFill>
                <a:highlight>
                  <a:srgbClr val="FFFFFF"/>
                </a:highlight>
                <a:latin typeface="Times New Roman" panose="02020603050405020304" charset="0"/>
                <a:cs typeface="Times New Roman" panose="02020603050405020304" charset="0"/>
              </a:rPr>
              <a:t>Deadline:</a:t>
            </a:r>
            <a:r>
              <a:rPr lang="en-US" sz="2200">
                <a:solidFill>
                  <a:srgbClr val="0D0D0D"/>
                </a:solidFill>
                <a:highlight>
                  <a:srgbClr val="FFFFFF"/>
                </a:highlight>
                <a:latin typeface="Times New Roman" panose="02020603050405020304" charset="0"/>
                <a:cs typeface="Times New Roman" panose="02020603050405020304" charset="0"/>
              </a:rPr>
              <a:t> Ongoing maintenance post-launch.</a:t>
            </a:r>
            <a:endParaRPr lang="en-US" sz="2200" dirty="0">
              <a:solidFill>
                <a:srgbClr val="0D0D0D"/>
              </a:solidFill>
              <a:highlight>
                <a:srgbClr val="FFFFFF"/>
              </a:highlight>
              <a:latin typeface="Times New Roman" panose="02020603050405020304" charset="0"/>
              <a:cs typeface="Times New Roman" panose="02020603050405020304" charset="0"/>
            </a:endParaRPr>
          </a:p>
        </p:txBody>
      </p:sp>
      <p:sp>
        <p:nvSpPr>
          <p:cNvPr id="4" name="Slide Number Placeholder 5">
            <a:extLst>
              <a:ext uri="{FF2B5EF4-FFF2-40B4-BE49-F238E27FC236}">
                <a16:creationId xmlns:a16="http://schemas.microsoft.com/office/drawing/2014/main" id="{C57BAB4F-6554-479B-9E42-D82E2DE8EACD}"/>
              </a:ext>
            </a:extLst>
          </p:cNvPr>
          <p:cNvSpPr>
            <a:spLocks noGrp="1"/>
          </p:cNvSpPr>
          <p:nvPr>
            <p:ph type="sldNum" sz="quarter" idx="12"/>
          </p:nvPr>
        </p:nvSpPr>
        <p:spPr>
          <a:xfrm>
            <a:off x="8610600" y="6356350"/>
            <a:ext cx="2743200" cy="365125"/>
          </a:xfrm>
        </p:spPr>
        <p:txBody>
          <a:bodyPr/>
          <a:lstStyle/>
          <a:p>
            <a:fld id="{1D33FE99-77AD-4592-A048-80FD36C8F97A}" type="slidenum">
              <a:rPr lang="en-US" smtClean="0"/>
              <a:t>19</a:t>
            </a:fld>
            <a:endParaRPr lang="en-US"/>
          </a:p>
        </p:txBody>
      </p:sp>
      <p:pic>
        <p:nvPicPr>
          <p:cNvPr id="5" name="Content Placeholder 7" descr="planning2">
            <a:extLst>
              <a:ext uri="{FF2B5EF4-FFF2-40B4-BE49-F238E27FC236}">
                <a16:creationId xmlns:a16="http://schemas.microsoft.com/office/drawing/2014/main" id="{CC550C2E-63ED-430E-821E-086AB3768268}"/>
              </a:ext>
            </a:extLst>
          </p:cNvPr>
          <p:cNvPicPr>
            <a:picLocks noChangeAspect="1"/>
          </p:cNvPicPr>
          <p:nvPr/>
        </p:nvPicPr>
        <p:blipFill>
          <a:blip r:embed="rId2"/>
          <a:stretch>
            <a:fillRect/>
          </a:stretch>
        </p:blipFill>
        <p:spPr>
          <a:xfrm>
            <a:off x="8296910" y="2054225"/>
            <a:ext cx="3672840" cy="3939540"/>
          </a:xfrm>
          <a:prstGeom prst="rect">
            <a:avLst/>
          </a:prstGeom>
          <a:ln>
            <a:solidFill>
              <a:schemeClr val="tx1"/>
            </a:solidFill>
          </a:ln>
        </p:spPr>
      </p:pic>
    </p:spTree>
    <p:extLst>
      <p:ext uri="{BB962C8B-B14F-4D97-AF65-F5344CB8AC3E}">
        <p14:creationId xmlns:p14="http://schemas.microsoft.com/office/powerpoint/2010/main" val="1766623549"/>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29874-61F9-4F96-B06E-B582A23A9A93}"/>
              </a:ext>
            </a:extLst>
          </p:cNvPr>
          <p:cNvSpPr>
            <a:spLocks noGrp="1"/>
          </p:cNvSpPr>
          <p:nvPr>
            <p:ph type="ctrTitle"/>
          </p:nvPr>
        </p:nvSpPr>
        <p:spPr>
          <a:xfrm>
            <a:off x="1922929" y="564776"/>
            <a:ext cx="7301754" cy="692990"/>
          </a:xfrm>
        </p:spPr>
        <p:txBody>
          <a:bodyPr>
            <a:noAutofit/>
          </a:bodyPr>
          <a:lstStyle/>
          <a:p>
            <a:r>
              <a:rPr lang="en-US" sz="4800" b="1" dirty="0">
                <a:latin typeface="Times New Roman" panose="02020603050405020304" pitchFamily="18" charset="0"/>
                <a:cs typeface="Times New Roman" panose="02020603050405020304" pitchFamily="18" charset="0"/>
              </a:rPr>
              <a:t>Outcome</a:t>
            </a:r>
            <a:endParaRPr lang="en-IN"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589F4AB-F7E3-4DC7-9E6B-5D54A13B3DC4}"/>
              </a:ext>
            </a:extLst>
          </p:cNvPr>
          <p:cNvSpPr>
            <a:spLocks noGrp="1"/>
          </p:cNvSpPr>
          <p:nvPr>
            <p:ph type="subTitle" idx="1"/>
          </p:nvPr>
        </p:nvSpPr>
        <p:spPr>
          <a:xfrm>
            <a:off x="632012" y="1398494"/>
            <a:ext cx="10797988" cy="4894730"/>
          </a:xfrm>
        </p:spPr>
        <p:txBody>
          <a:bodyPr>
            <a:normAutofit fontScale="92500" lnSpcReduction="10000"/>
          </a:bodyPr>
          <a:lstStyle/>
          <a:p>
            <a:pPr algn="l"/>
            <a:r>
              <a:rPr lang="en-US" b="1" dirty="0"/>
              <a:t>Paper Acceptance:</a:t>
            </a:r>
            <a:endParaRPr lang="en-US" dirty="0"/>
          </a:p>
          <a:p>
            <a:pPr marL="342900" indent="-342900" algn="just">
              <a:buFont typeface="Arial" panose="020B0604020202020204" pitchFamily="34" charset="0"/>
              <a:buChar char="•"/>
            </a:pPr>
            <a:r>
              <a:rPr lang="en-US" dirty="0"/>
              <a:t>Research paper successfully accepted for publication at </a:t>
            </a:r>
            <a:r>
              <a:rPr lang="en-US" b="1" dirty="0"/>
              <a:t>Manav Rachna Conference 2024.</a:t>
            </a:r>
            <a:endParaRPr lang="en-US" dirty="0"/>
          </a:p>
          <a:p>
            <a:pPr marL="342900" indent="-342900" algn="just">
              <a:buFont typeface="Arial" panose="020B0604020202020204" pitchFamily="34" charset="0"/>
              <a:buChar char="•"/>
            </a:pPr>
            <a:r>
              <a:rPr lang="en-US" dirty="0"/>
              <a:t>Registration process completed and presentation preparation underway.</a:t>
            </a:r>
          </a:p>
          <a:p>
            <a:pPr algn="l"/>
            <a:r>
              <a:rPr lang="en-US" dirty="0"/>
              <a:t> </a:t>
            </a:r>
            <a:r>
              <a:rPr lang="en-US" b="1" dirty="0"/>
              <a:t>Implementation Status:</a:t>
            </a:r>
            <a:endParaRPr lang="en-US" dirty="0"/>
          </a:p>
          <a:p>
            <a:pPr marL="342900" indent="-342900" algn="just">
              <a:buFont typeface="Arial" panose="020B0604020202020204" pitchFamily="34" charset="0"/>
              <a:buChar char="•"/>
            </a:pPr>
            <a:r>
              <a:rPr lang="en-US" dirty="0"/>
              <a:t>Core functionalities implemented successfully.</a:t>
            </a:r>
          </a:p>
          <a:p>
            <a:pPr marL="342900" indent="-342900" algn="just">
              <a:buFont typeface="Arial" panose="020B0604020202020204" pitchFamily="34" charset="0"/>
              <a:buChar char="•"/>
            </a:pPr>
            <a:r>
              <a:rPr lang="en-US" dirty="0"/>
              <a:t>System undergoing final testing with promising results.</a:t>
            </a:r>
          </a:p>
          <a:p>
            <a:pPr algn="l"/>
            <a:r>
              <a:rPr lang="en-US" b="1" dirty="0"/>
              <a:t>Progress Highlights:</a:t>
            </a:r>
            <a:endParaRPr lang="en-US" dirty="0"/>
          </a:p>
          <a:p>
            <a:pPr marL="342900" indent="-342900" algn="just">
              <a:buFont typeface="Arial" panose="020B0604020202020204" pitchFamily="34" charset="0"/>
              <a:buChar char="•"/>
            </a:pPr>
            <a:r>
              <a:rPr lang="en-US" dirty="0"/>
              <a:t>Seamless integration of music streaming and voice communication achieved.</a:t>
            </a:r>
          </a:p>
          <a:p>
            <a:pPr marL="342900" indent="-342900" algn="just">
              <a:buFont typeface="Arial" panose="020B0604020202020204" pitchFamily="34" charset="0"/>
              <a:buChar char="•"/>
            </a:pPr>
            <a:r>
              <a:rPr lang="en-US" dirty="0"/>
              <a:t>Strong performance metrics and positive user feedback received.</a:t>
            </a:r>
          </a:p>
          <a:p>
            <a:pPr algn="l"/>
            <a:r>
              <a:rPr lang="en-US" b="1" dirty="0"/>
              <a:t>Next Steps:</a:t>
            </a:r>
            <a:endParaRPr lang="en-US" dirty="0"/>
          </a:p>
          <a:p>
            <a:pPr marL="342900" indent="-342900" algn="just">
              <a:buFont typeface="Arial" panose="020B0604020202020204" pitchFamily="34" charset="0"/>
              <a:buChar char="•"/>
            </a:pPr>
            <a:r>
              <a:rPr lang="en-US" dirty="0"/>
              <a:t>Final optimizations and integration of new ideas.</a:t>
            </a:r>
          </a:p>
          <a:p>
            <a:pPr marL="342900" indent="-342900" algn="just">
              <a:buFont typeface="Arial" panose="020B0604020202020204" pitchFamily="34" charset="0"/>
              <a:buChar char="•"/>
            </a:pPr>
            <a:r>
              <a:rPr lang="en-US" dirty="0"/>
              <a:t>Preparing for live demo and feedback at the conference.</a:t>
            </a:r>
          </a:p>
          <a:p>
            <a:pPr algn="just"/>
            <a:endParaRPr lang="en-IN" dirty="0"/>
          </a:p>
        </p:txBody>
      </p:sp>
    </p:spTree>
    <p:extLst>
      <p:ext uri="{BB962C8B-B14F-4D97-AF65-F5344CB8AC3E}">
        <p14:creationId xmlns:p14="http://schemas.microsoft.com/office/powerpoint/2010/main" val="432112913"/>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882" y="365125"/>
            <a:ext cx="10515600" cy="1325563"/>
          </a:xfrm>
        </p:spPr>
        <p:txBody>
          <a:bodyPr/>
          <a:lstStyle/>
          <a:p>
            <a:pPr algn="ctr"/>
            <a:r>
              <a:rPr lang="en-US" b="1" dirty="0">
                <a:latin typeface="Times New Roman" panose="02020603050405020304" charset="0"/>
                <a:cs typeface="Times New Roman" panose="02020603050405020304" charset="0"/>
              </a:rPr>
              <a:t>Conclusion</a:t>
            </a:r>
          </a:p>
        </p:txBody>
      </p:sp>
      <p:sp>
        <p:nvSpPr>
          <p:cNvPr id="4" name="Content Placeholder 2"/>
          <p:cNvSpPr txBox="1"/>
          <p:nvPr/>
        </p:nvSpPr>
        <p:spPr>
          <a:xfrm>
            <a:off x="271780" y="2373294"/>
            <a:ext cx="7527514" cy="53587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60000"/>
              </a:lnSpc>
              <a:buFont typeface="Wingdings" panose="05000000000000000000" charset="0"/>
              <a:buChar char="Ø"/>
            </a:pPr>
            <a:r>
              <a:rPr lang="en-US" sz="2000" dirty="0">
                <a:latin typeface="Times New Roman" panose="02020603050405020304" pitchFamily="18" charset="0"/>
                <a:cs typeface="Times New Roman" panose="02020603050405020304" pitchFamily="18" charset="0"/>
              </a:rPr>
              <a:t>TuneTalk aims to address the challenge of switching between multiple apps for communication and music streaming, TuneTalk simplifies the user experience and eliminates the hassle of toggling between different platforms.</a:t>
            </a:r>
          </a:p>
          <a:p>
            <a:pPr algn="just">
              <a:lnSpc>
                <a:spcPct val="160000"/>
              </a:lnSpc>
              <a:buFont typeface="Wingdings" panose="05000000000000000000" charset="0"/>
              <a:buChar char="Ø"/>
            </a:pPr>
            <a:r>
              <a:rPr lang="en-US" sz="2000" dirty="0">
                <a:latin typeface="Times New Roman" panose="02020603050405020304" pitchFamily="18" charset="0"/>
                <a:cs typeface="Times New Roman" panose="02020603050405020304" pitchFamily="18" charset="0"/>
              </a:rPr>
              <a:t> Our solution offers a seamless and intuitive interface that enhances user convenience and satisfaction in the digital landscape</a:t>
            </a:r>
          </a:p>
        </p:txBody>
      </p:sp>
      <p:pic>
        <p:nvPicPr>
          <p:cNvPr id="3" name="Content Placeholder 2" descr="conc"/>
          <p:cNvPicPr>
            <a:picLocks noGrp="1" noChangeAspect="1"/>
          </p:cNvPicPr>
          <p:nvPr>
            <p:ph idx="1"/>
          </p:nvPr>
        </p:nvPicPr>
        <p:blipFill>
          <a:blip r:embed="rId2"/>
          <a:stretch>
            <a:fillRect/>
          </a:stretch>
        </p:blipFill>
        <p:spPr>
          <a:xfrm>
            <a:off x="8192022" y="1988483"/>
            <a:ext cx="3632388" cy="3632388"/>
          </a:xfrm>
          <a:prstGeom prst="rect">
            <a:avLst/>
          </a:prstGeom>
          <a:ln>
            <a:solidFill>
              <a:schemeClr val="tx1"/>
            </a:solidFill>
          </a:ln>
        </p:spPr>
      </p:pic>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TotalTime>
  <Words>2344</Words>
  <Application>Microsoft Office PowerPoint</Application>
  <PresentationFormat>Widescreen</PresentationFormat>
  <Paragraphs>224</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Georgia</vt:lpstr>
      <vt:lpstr>PT Sans</vt:lpstr>
      <vt:lpstr>Times New Roman</vt:lpstr>
      <vt:lpstr>Wingdings</vt:lpstr>
      <vt:lpstr>Office Theme</vt:lpstr>
      <vt:lpstr>B.Tech External Project Evaluation ,VIIth Sem  </vt:lpstr>
      <vt:lpstr>Agenda</vt:lpstr>
      <vt:lpstr>Progress</vt:lpstr>
      <vt:lpstr>Introduction</vt:lpstr>
      <vt:lpstr>Motivation</vt:lpstr>
      <vt:lpstr>Problem Statement:</vt:lpstr>
      <vt:lpstr>Literature Survey</vt:lpstr>
      <vt:lpstr>Research Gap</vt:lpstr>
      <vt:lpstr>Market Gap and Opportunity</vt:lpstr>
      <vt:lpstr>PowerPoint Presentation</vt:lpstr>
      <vt:lpstr>Core Features and Functionalities</vt:lpstr>
      <vt:lpstr>Technology Stack</vt:lpstr>
      <vt:lpstr>Technology Stack</vt:lpstr>
      <vt:lpstr>UseCases and User Scenarios</vt:lpstr>
      <vt:lpstr>PowerPoint Presentation</vt:lpstr>
      <vt:lpstr>PowerPoint Presentation</vt:lpstr>
      <vt:lpstr>PowerPoint Presentation</vt:lpstr>
      <vt:lpstr>Project Planning</vt:lpstr>
      <vt:lpstr>PowerPoint Presentation</vt:lpstr>
      <vt:lpstr>Outcome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 Tech Major Project Evaluation-0 Project Title Approval VI Sem</dc:title>
  <dc:creator>Author</dc:creator>
  <cp:lastModifiedBy>Viney Chhillar</cp:lastModifiedBy>
  <cp:revision>42</cp:revision>
  <dcterms:created xsi:type="dcterms:W3CDTF">2024-04-05T05:13:00Z</dcterms:created>
  <dcterms:modified xsi:type="dcterms:W3CDTF">2024-11-21T03:47:14Z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5B6EF186B1814B6DBDC8823D10D9D020_13</vt:lpwstr>
  </property>
  <property fmtid="{D5CDD505-2E9C-101B-9397-08002B2CF9AE}" pid="3" name="KSOProductBuildVer">
    <vt:lpwstr>1033-12.2.0.16731</vt:lpwstr>
  </property>
</Properties>
</file>