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96" r:id="rId2"/>
    <p:sldId id="275" r:id="rId3"/>
    <p:sldId id="290" r:id="rId4"/>
    <p:sldId id="259" r:id="rId5"/>
    <p:sldId id="268" r:id="rId6"/>
    <p:sldId id="291" r:id="rId7"/>
    <p:sldId id="292" r:id="rId8"/>
    <p:sldId id="267" r:id="rId9"/>
    <p:sldId id="260" r:id="rId10"/>
    <p:sldId id="261" r:id="rId11"/>
    <p:sldId id="293" r:id="rId12"/>
    <p:sldId id="262" r:id="rId13"/>
    <p:sldId id="266"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9"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showGuides="1">
      <p:cViewPr varScale="1">
        <p:scale>
          <a:sx n="71" d="100"/>
          <a:sy n="71" d="100"/>
        </p:scale>
        <p:origin x="696" y="78"/>
      </p:cViewPr>
      <p:guideLst>
        <p:guide orient="horz" pos="2159"/>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156101AA-7DF0-4A5D-8FD6-F7F168CAC562}" type="datetimeFigureOut">
              <a:rPr lang="en-US" smtClean="0"/>
              <a:t>8/30/2024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33FE99-77AD-4592-A048-80FD36C8F97A}" type="slidenum">
              <a:rPr lang="en-US" smtClean="0"/>
              <a:t>‹#›</a:t>
            </a:fld>
            <a:endParaRPr lang="en-US"/>
          </a:p>
        </p:txBody>
      </p:sp>
    </p:spTree>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56101AA-7DF0-4A5D-8FD6-F7F168CAC562}" type="datetimeFigureOut">
              <a:rPr lang="en-US" smtClean="0"/>
              <a:t>8/30/2024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33FE99-77AD-4592-A048-80FD36C8F97A}" type="slidenum">
              <a:rPr lang="en-US" smtClean="0"/>
              <a:t>‹#›</a:t>
            </a:fld>
            <a:endParaRPr lang="en-US"/>
          </a:p>
        </p:txBody>
      </p:sp>
    </p:spTree>
  </p:cSld>
  <p:clrMapOvr>
    <a:masterClrMapping/>
  </p:clrMapOvr>
  <p:transition spd="slow">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56101AA-7DF0-4A5D-8FD6-F7F168CAC562}" type="datetimeFigureOut">
              <a:rPr lang="en-US" smtClean="0"/>
              <a:t>8/30/2024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33FE99-77AD-4592-A048-80FD36C8F97A}" type="slidenum">
              <a:rPr lang="en-US" smtClean="0"/>
              <a:t>‹#›</a:t>
            </a:fld>
            <a:endParaRPr lang="en-US"/>
          </a:p>
        </p:txBody>
      </p:sp>
    </p:spTree>
  </p:cSld>
  <p:clrMapOvr>
    <a:masterClrMapping/>
  </p:clrMapOvr>
  <p:transition spd="slow">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56101AA-7DF0-4A5D-8FD6-F7F168CAC562}" type="datetimeFigureOut">
              <a:rPr lang="en-US" smtClean="0"/>
              <a:t>8/30/2024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33FE99-77AD-4592-A048-80FD36C8F97A}" type="slidenum">
              <a:rPr lang="en-US" smtClean="0"/>
              <a:t>‹#›</a:t>
            </a:fld>
            <a:endParaRPr lang="en-US"/>
          </a:p>
        </p:txBody>
      </p:sp>
    </p:spTree>
  </p:cSld>
  <p:clrMapOvr>
    <a:masterClrMapping/>
  </p:clrMapOvr>
  <p:transition spd="slow">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56101AA-7DF0-4A5D-8FD6-F7F168CAC562}" type="datetimeFigureOut">
              <a:rPr lang="en-US" smtClean="0"/>
              <a:t>8/30/2024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D33FE99-77AD-4592-A048-80FD36C8F97A}" type="slidenum">
              <a:rPr lang="en-US" smtClean="0"/>
              <a:t>‹#›</a:t>
            </a:fld>
            <a:endParaRPr lang="en-US"/>
          </a:p>
        </p:txBody>
      </p:sp>
    </p:spTree>
  </p:cSld>
  <p:clrMapOvr>
    <a:masterClrMapping/>
  </p:clrMapOvr>
  <p:transition spd="slow">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56101AA-7DF0-4A5D-8FD6-F7F168CAC562}" type="datetimeFigureOut">
              <a:rPr lang="en-US" smtClean="0"/>
              <a:t>8/30/2024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D33FE99-77AD-4592-A048-80FD36C8F97A}" type="slidenum">
              <a:rPr lang="en-US" smtClean="0"/>
              <a:t>‹#›</a:t>
            </a:fld>
            <a:endParaRPr lang="en-US"/>
          </a:p>
        </p:txBody>
      </p:sp>
    </p:spTree>
  </p:cSld>
  <p:clrMapOvr>
    <a:masterClrMapping/>
  </p:clrMapOvr>
  <p:transition spd="slow">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56101AA-7DF0-4A5D-8FD6-F7F168CAC562}" type="datetimeFigureOut">
              <a:rPr lang="en-US" smtClean="0"/>
              <a:t>8/30/2024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D33FE99-77AD-4592-A048-80FD36C8F97A}" type="slidenum">
              <a:rPr lang="en-US" smtClean="0"/>
              <a:t>‹#›</a:t>
            </a:fld>
            <a:endParaRPr lang="en-US"/>
          </a:p>
        </p:txBody>
      </p:sp>
    </p:spTree>
  </p:cSld>
  <p:clrMapOvr>
    <a:masterClrMapping/>
  </p:clrMapOvr>
  <p:transition spd="slow">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56101AA-7DF0-4A5D-8FD6-F7F168CAC562}" type="datetimeFigureOut">
              <a:rPr lang="en-US" smtClean="0"/>
              <a:t>8/30/2024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33FE99-77AD-4592-A048-80FD36C8F97A}" type="slidenum">
              <a:rPr lang="en-US" smtClean="0"/>
              <a:t>‹#›</a:t>
            </a:fld>
            <a:endParaRPr lang="en-US"/>
          </a:p>
        </p:txBody>
      </p:sp>
    </p:spTree>
  </p:cSld>
  <p:clrMapOvr>
    <a:masterClrMapping/>
  </p:clrMapOvr>
  <p:transition spd="slow">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56101AA-7DF0-4A5D-8FD6-F7F168CAC562}" type="datetimeFigureOut">
              <a:rPr lang="en-US" smtClean="0"/>
              <a:t>8/30/2024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33FE99-77AD-4592-A048-80FD36C8F97A}" type="slidenum">
              <a:rPr lang="en-US" smtClean="0"/>
              <a:t>‹#›</a:t>
            </a:fld>
            <a:endParaRPr lang="en-US"/>
          </a:p>
        </p:txBody>
      </p:sp>
    </p:spTree>
  </p:cSld>
  <p:clrMapOvr>
    <a:masterClrMapping/>
  </p:clrMapOvr>
  <p:transition spd="slow">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56101AA-7DF0-4A5D-8FD6-F7F168CAC562}" type="datetimeFigureOut">
              <a:rPr lang="en-US" smtClean="0"/>
              <a:t>8/30/2024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33FE99-77AD-4592-A048-80FD36C8F97A}" type="slidenum">
              <a:rPr lang="en-US" smtClean="0"/>
              <a:t>‹#›</a:t>
            </a:fld>
            <a:endParaRPr lang="en-US"/>
          </a:p>
        </p:txBody>
      </p:sp>
    </p:spTree>
  </p:cSld>
  <p:clrMapOvr>
    <a:masterClrMapping/>
  </p:clrMapOvr>
  <p:transition spd="slow">
    <p:push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56101AA-7DF0-4A5D-8FD6-F7F168CAC562}" type="datetimeFigureOut">
              <a:rPr lang="en-US" smtClean="0"/>
              <a:t>8/30/2024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33FE99-77AD-4592-A048-80FD36C8F97A}" type="slidenum">
              <a:rPr lang="en-US" smtClean="0"/>
              <a:t>‹#›</a:t>
            </a:fld>
            <a:endParaRPr lang="en-US"/>
          </a:p>
        </p:txBody>
      </p:sp>
    </p:spTree>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6101AA-7DF0-4A5D-8FD6-F7F168CAC562}" type="datetimeFigureOut">
              <a:rPr lang="en-US" smtClean="0"/>
              <a:t>8/30/2024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33FE99-77AD-4592-A048-80FD36C8F97A}"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push dir="u"/>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3" name="Rectangle 24">
            <a:extLst>
              <a:ext uri="{FF2B5EF4-FFF2-40B4-BE49-F238E27FC236}">
                <a16:creationId xmlns:a16="http://schemas.microsoft.com/office/drawing/2014/main" id="{40918DB1-D207-4B99-B609-4AB1E432C0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26">
            <a:extLst>
              <a:ext uri="{FF2B5EF4-FFF2-40B4-BE49-F238E27FC236}">
                <a16:creationId xmlns:a16="http://schemas.microsoft.com/office/drawing/2014/main" id="{01B9E308-3493-45C1-B2C1-71E56B80DF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5" name="Picture 14">
            <a:extLst>
              <a:ext uri="{FF2B5EF4-FFF2-40B4-BE49-F238E27FC236}">
                <a16:creationId xmlns:a16="http://schemas.microsoft.com/office/drawing/2014/main" id="{07A5C1C0-5087-42F7-8839-C994BAF7B3B5}"/>
              </a:ext>
            </a:extLst>
          </p:cNvPr>
          <p:cNvPicPr>
            <a:picLocks noChangeAspect="1"/>
          </p:cNvPicPr>
          <p:nvPr/>
        </p:nvPicPr>
        <p:blipFill rotWithShape="1">
          <a:blip r:embed="rId2"/>
          <a:srcRect r="59916"/>
          <a:stretch/>
        </p:blipFill>
        <p:spPr>
          <a:xfrm>
            <a:off x="6944273" y="1869669"/>
            <a:ext cx="3203509" cy="3426237"/>
          </a:xfrm>
          <a:prstGeom prst="rect">
            <a:avLst/>
          </a:prstGeom>
        </p:spPr>
      </p:pic>
      <p:sp>
        <p:nvSpPr>
          <p:cNvPr id="16" name="Subtitle 3">
            <a:extLst>
              <a:ext uri="{FF2B5EF4-FFF2-40B4-BE49-F238E27FC236}">
                <a16:creationId xmlns:a16="http://schemas.microsoft.com/office/drawing/2014/main" id="{36941FB4-2DAF-4394-BA4A-051A2F6EC64F}"/>
              </a:ext>
            </a:extLst>
          </p:cNvPr>
          <p:cNvSpPr>
            <a:spLocks noGrp="1"/>
          </p:cNvSpPr>
          <p:nvPr>
            <p:ph type="subTitle" idx="1"/>
          </p:nvPr>
        </p:nvSpPr>
        <p:spPr>
          <a:xfrm>
            <a:off x="1037576" y="911993"/>
            <a:ext cx="8534400" cy="1752600"/>
          </a:xfrm>
        </p:spPr>
        <p:txBody>
          <a:bodyPr/>
          <a:lstStyle/>
          <a:p>
            <a:endParaRPr lang="en-US" b="1" dirty="0">
              <a:solidFill>
                <a:schemeClr val="tx1"/>
              </a:solidFill>
              <a:latin typeface="Times New Roman" panose="02020603050405020304" pitchFamily="18" charset="0"/>
              <a:cs typeface="Times New Roman" panose="02020603050405020304" pitchFamily="18" charset="0"/>
            </a:endParaRPr>
          </a:p>
          <a:p>
            <a:pPr lvl="0"/>
            <a:r>
              <a:rPr lang="en-US" sz="2800" b="1" dirty="0">
                <a:solidFill>
                  <a:prstClr val="black"/>
                </a:solidFill>
                <a:latin typeface="Times New Roman" panose="02020603050405020304" charset="0"/>
                <a:cs typeface="Times New Roman" panose="02020603050405020304" charset="0"/>
              </a:rPr>
              <a:t>TuneTalk: Fusion of Music and Integrated Voice Communication</a:t>
            </a:r>
          </a:p>
          <a:p>
            <a:endParaRPr lang="en-IN" b="1" dirty="0">
              <a:solidFill>
                <a:schemeClr val="tx1"/>
              </a:solidFill>
              <a:latin typeface="Times New Roman" panose="02020603050405020304" pitchFamily="18" charset="0"/>
              <a:cs typeface="Times New Roman" panose="02020603050405020304" pitchFamily="18" charset="0"/>
            </a:endParaRPr>
          </a:p>
        </p:txBody>
      </p:sp>
      <p:sp>
        <p:nvSpPr>
          <p:cNvPr id="17" name="Title 7">
            <a:extLst>
              <a:ext uri="{FF2B5EF4-FFF2-40B4-BE49-F238E27FC236}">
                <a16:creationId xmlns:a16="http://schemas.microsoft.com/office/drawing/2014/main" id="{A7F90B8C-5B65-466F-8D7B-E1CCD321FA47}"/>
              </a:ext>
            </a:extLst>
          </p:cNvPr>
          <p:cNvSpPr>
            <a:spLocks noGrp="1"/>
          </p:cNvSpPr>
          <p:nvPr>
            <p:ph type="ctrTitle"/>
          </p:nvPr>
        </p:nvSpPr>
        <p:spPr>
          <a:xfrm>
            <a:off x="123176" y="-1058302"/>
            <a:ext cx="10363200" cy="2076450"/>
          </a:xfrm>
        </p:spPr>
        <p:txBody>
          <a:bodyPr/>
          <a:lstStyle/>
          <a:p>
            <a:r>
              <a:rPr lang="en-US" sz="4000" b="1" dirty="0">
                <a:solidFill>
                  <a:schemeClr val="tx2"/>
                </a:solidFill>
                <a:latin typeface="Garamond" panose="02020404030301010803" pitchFamily="18" charset="0"/>
              </a:rPr>
              <a:t>SMART INDIA HACKATHON 2024</a:t>
            </a:r>
            <a:endParaRPr lang="en-IN" sz="4000" b="1" dirty="0">
              <a:solidFill>
                <a:schemeClr val="tx2"/>
              </a:solidFill>
              <a:latin typeface="Garamond" panose="02020404030301010803" pitchFamily="18" charset="0"/>
            </a:endParaRPr>
          </a:p>
        </p:txBody>
      </p:sp>
      <p:sp>
        <p:nvSpPr>
          <p:cNvPr id="24" name="TextBox 23">
            <a:extLst>
              <a:ext uri="{FF2B5EF4-FFF2-40B4-BE49-F238E27FC236}">
                <a16:creationId xmlns:a16="http://schemas.microsoft.com/office/drawing/2014/main" id="{83340A97-97AD-478E-A4A8-AA4DE66744B8}"/>
              </a:ext>
            </a:extLst>
          </p:cNvPr>
          <p:cNvSpPr txBox="1"/>
          <p:nvPr/>
        </p:nvSpPr>
        <p:spPr>
          <a:xfrm>
            <a:off x="331285" y="2076450"/>
            <a:ext cx="10823139" cy="3948004"/>
          </a:xfrm>
          <a:prstGeom prst="rect">
            <a:avLst/>
          </a:prstGeom>
          <a:noFill/>
        </p:spPr>
        <p:txBody>
          <a:bodyPr wrap="square" rtlCol="0">
            <a:spAutoFit/>
          </a:bodyPr>
          <a:lstStyle/>
          <a:p>
            <a:endParaRPr lang="en-US" dirty="0"/>
          </a:p>
          <a:p>
            <a:pPr marL="285750" indent="-285750" algn="just">
              <a:lnSpc>
                <a:spcPct val="200000"/>
              </a:lnSpc>
              <a:buFont typeface="Arial" panose="020B0604020202020204" pitchFamily="34" charset="0"/>
              <a:buChar char="•"/>
            </a:pPr>
            <a:r>
              <a:rPr lang="en-US" sz="2400" dirty="0">
                <a:latin typeface="Arial" panose="020B0604020202020204" pitchFamily="34" charset="0"/>
                <a:cs typeface="Arial" panose="020B0604020202020204" pitchFamily="34" charset="0"/>
              </a:rPr>
              <a:t>Problem Statement Title- </a:t>
            </a:r>
            <a:r>
              <a:rPr lang="en-US" sz="2400" b="1" dirty="0"/>
              <a:t>Bridging the Gap: Integrating Music Streaming and Communication for a Seamless User Experience</a:t>
            </a:r>
            <a:endParaRPr lang="en-US" sz="2400" b="1" dirty="0">
              <a:latin typeface="Arial" panose="020B0604020202020204" pitchFamily="34" charset="0"/>
              <a:cs typeface="Arial" panose="020B0604020202020204" pitchFamily="34" charset="0"/>
            </a:endParaRPr>
          </a:p>
          <a:p>
            <a:pPr marL="285750" indent="-285750" algn="just">
              <a:lnSpc>
                <a:spcPct val="200000"/>
              </a:lnSpc>
              <a:buFont typeface="Arial" panose="020B0604020202020204" pitchFamily="34" charset="0"/>
              <a:buChar char="•"/>
            </a:pPr>
            <a:r>
              <a:rPr lang="en-US" sz="2400" dirty="0">
                <a:latin typeface="Arial" panose="020B0604020202020204" pitchFamily="34" charset="0"/>
                <a:cs typeface="Arial" panose="020B0604020202020204" pitchFamily="34" charset="0"/>
              </a:rPr>
              <a:t>Theme-</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TuneFusion</a:t>
            </a:r>
            <a:endParaRPr lang="en-US" sz="2400" b="1" dirty="0">
              <a:latin typeface="Arial" panose="020B0604020202020204" pitchFamily="34" charset="0"/>
              <a:cs typeface="Arial" panose="020B0604020202020204" pitchFamily="34" charset="0"/>
            </a:endParaRPr>
          </a:p>
          <a:p>
            <a:pPr marL="285750" indent="-285750" algn="just">
              <a:lnSpc>
                <a:spcPct val="200000"/>
              </a:lnSpc>
              <a:buFont typeface="Arial" panose="020B0604020202020204" pitchFamily="34" charset="0"/>
              <a:buChar char="•"/>
            </a:pPr>
            <a:r>
              <a:rPr lang="en-US" sz="2400" dirty="0">
                <a:latin typeface="Arial" panose="020B0604020202020204" pitchFamily="34" charset="0"/>
                <a:cs typeface="Arial" panose="020B0604020202020204" pitchFamily="34" charset="0"/>
              </a:rPr>
              <a:t>PS Category- </a:t>
            </a:r>
            <a:r>
              <a:rPr lang="en-US" sz="2400" b="1" dirty="0">
                <a:latin typeface="Arial" panose="020B0604020202020204" pitchFamily="34" charset="0"/>
                <a:cs typeface="Arial" panose="020B0604020202020204" pitchFamily="34" charset="0"/>
              </a:rPr>
              <a:t>Software</a:t>
            </a:r>
          </a:p>
          <a:p>
            <a:pPr marL="285750" indent="-285750" algn="just">
              <a:lnSpc>
                <a:spcPct val="200000"/>
              </a:lnSpc>
              <a:buFont typeface="Arial" panose="020B0604020202020204" pitchFamily="34" charset="0"/>
              <a:buChar char="•"/>
            </a:pPr>
            <a:r>
              <a:rPr lang="en-US" sz="2400" dirty="0">
                <a:latin typeface="Arial" panose="020B0604020202020204" pitchFamily="34" charset="0"/>
                <a:cs typeface="Arial" panose="020B0604020202020204" pitchFamily="34" charset="0"/>
              </a:rPr>
              <a:t>Team Name - </a:t>
            </a:r>
            <a:r>
              <a:rPr lang="en-US" sz="2400" b="1" dirty="0" err="1">
                <a:latin typeface="Arial" panose="020B0604020202020204" pitchFamily="34" charset="0"/>
                <a:cs typeface="Arial" panose="020B0604020202020204" pitchFamily="34" charset="0"/>
              </a:rPr>
              <a:t>CodeHunters</a:t>
            </a:r>
            <a:endParaRPr lang="en-IN" sz="2400" b="1" dirty="0">
              <a:latin typeface="Arial" panose="020B0604020202020204" pitchFamily="34" charset="0"/>
              <a:cs typeface="Arial" panose="020B0604020202020204" pitchFamily="34" charset="0"/>
            </a:endParaRPr>
          </a:p>
        </p:txBody>
      </p:sp>
      <p:pic>
        <p:nvPicPr>
          <p:cNvPr id="25" name="Google Shape;93;p2">
            <a:extLst>
              <a:ext uri="{FF2B5EF4-FFF2-40B4-BE49-F238E27FC236}">
                <a16:creationId xmlns:a16="http://schemas.microsoft.com/office/drawing/2014/main" id="{AFD8412E-0F00-40DD-8EE8-5F22EF019B1B}"/>
              </a:ext>
            </a:extLst>
          </p:cNvPr>
          <p:cNvPicPr preferRelativeResize="0"/>
          <p:nvPr/>
        </p:nvPicPr>
        <p:blipFill rotWithShape="1">
          <a:blip r:embed="rId3">
            <a:alphaModFix/>
          </a:blip>
          <a:srcRect/>
          <a:stretch/>
        </p:blipFill>
        <p:spPr>
          <a:xfrm>
            <a:off x="9803911" y="81376"/>
            <a:ext cx="2246575" cy="1149075"/>
          </a:xfrm>
          <a:prstGeom prst="rect">
            <a:avLst/>
          </a:prstGeom>
          <a:noFill/>
          <a:ln>
            <a:noFill/>
          </a:ln>
        </p:spPr>
      </p:pic>
    </p:spTree>
    <p:extLst>
      <p:ext uri="{BB962C8B-B14F-4D97-AF65-F5344CB8AC3E}">
        <p14:creationId xmlns:p14="http://schemas.microsoft.com/office/powerpoint/2010/main" val="306187967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a:latin typeface="Times New Roman" panose="02020603050405020304" charset="0"/>
                <a:cs typeface="Times New Roman" panose="02020603050405020304" charset="0"/>
              </a:rPr>
              <a:t>Agenda</a:t>
            </a:r>
          </a:p>
        </p:txBody>
      </p:sp>
      <p:pic>
        <p:nvPicPr>
          <p:cNvPr id="3" name="Content Placeholder 2" descr="agenda"/>
          <p:cNvPicPr>
            <a:picLocks noGrp="1" noChangeAspect="1"/>
          </p:cNvPicPr>
          <p:nvPr>
            <p:ph sz="half" idx="2"/>
          </p:nvPr>
        </p:nvPicPr>
        <p:blipFill>
          <a:blip r:embed="rId2"/>
          <a:stretch>
            <a:fillRect/>
          </a:stretch>
        </p:blipFill>
        <p:spPr>
          <a:xfrm>
            <a:off x="7691120" y="1932940"/>
            <a:ext cx="3242310" cy="3242310"/>
          </a:xfrm>
          <a:prstGeom prst="rect">
            <a:avLst/>
          </a:prstGeom>
          <a:ln>
            <a:solidFill>
              <a:schemeClr val="tx1"/>
            </a:solidFill>
          </a:ln>
        </p:spPr>
      </p:pic>
      <p:sp>
        <p:nvSpPr>
          <p:cNvPr id="4" name="Content Placeholder 3"/>
          <p:cNvSpPr>
            <a:spLocks noGrp="1"/>
          </p:cNvSpPr>
          <p:nvPr>
            <p:ph sz="half" idx="1"/>
          </p:nvPr>
        </p:nvSpPr>
        <p:spPr/>
        <p:txBody>
          <a:bodyPr>
            <a:normAutofit fontScale="90000" lnSpcReduction="10000"/>
          </a:bodyPr>
          <a:lstStyle/>
          <a:p>
            <a:pPr algn="l">
              <a:buFont typeface="+mj-lt"/>
              <a:buAutoNum type="arabicPeriod"/>
            </a:pPr>
            <a:r>
              <a:rPr lang="en-US" dirty="0">
                <a:solidFill>
                  <a:srgbClr val="0D0D0D"/>
                </a:solidFill>
                <a:effectLst/>
                <a:highlight>
                  <a:srgbClr val="FFFFFF"/>
                </a:highlight>
                <a:latin typeface="Times New Roman" panose="02020603050405020304" charset="0"/>
                <a:cs typeface="Times New Roman" panose="02020603050405020304" charset="0"/>
                <a:sym typeface="+mn-ea"/>
              </a:rPr>
              <a:t> Introduction</a:t>
            </a:r>
            <a:endParaRPr lang="en-US" b="0" i="0" dirty="0">
              <a:solidFill>
                <a:srgbClr val="0D0D0D"/>
              </a:solidFill>
              <a:effectLst/>
              <a:highlight>
                <a:srgbClr val="FFFFFF"/>
              </a:highlight>
              <a:latin typeface="Times New Roman" panose="02020603050405020304" charset="0"/>
              <a:cs typeface="Times New Roman" panose="02020603050405020304" charset="0"/>
            </a:endParaRPr>
          </a:p>
          <a:p>
            <a:pPr algn="l">
              <a:buFont typeface="+mj-lt"/>
              <a:buAutoNum type="arabicPeriod"/>
            </a:pPr>
            <a:r>
              <a:rPr lang="en-US" dirty="0">
                <a:solidFill>
                  <a:srgbClr val="0D0D0D"/>
                </a:solidFill>
                <a:effectLst/>
                <a:highlight>
                  <a:srgbClr val="FFFFFF"/>
                </a:highlight>
                <a:latin typeface="Times New Roman" panose="02020603050405020304" charset="0"/>
                <a:cs typeface="Times New Roman" panose="02020603050405020304" charset="0"/>
                <a:sym typeface="+mn-ea"/>
              </a:rPr>
              <a:t> Team Size</a:t>
            </a:r>
          </a:p>
          <a:p>
            <a:pPr algn="l">
              <a:buFont typeface="+mj-lt"/>
              <a:buAutoNum type="arabicPeriod"/>
            </a:pPr>
            <a:r>
              <a:rPr lang="en-US" b="0" i="0" dirty="0">
                <a:solidFill>
                  <a:srgbClr val="0D0D0D"/>
                </a:solidFill>
                <a:effectLst/>
                <a:highlight>
                  <a:srgbClr val="FFFFFF"/>
                </a:highlight>
                <a:latin typeface="Times New Roman" panose="02020603050405020304" charset="0"/>
                <a:cs typeface="Times New Roman" panose="02020603050405020304" charset="0"/>
              </a:rPr>
              <a:t>Importance</a:t>
            </a:r>
          </a:p>
          <a:p>
            <a:pPr algn="l">
              <a:buFont typeface="+mj-lt"/>
              <a:buAutoNum type="arabicPeriod"/>
            </a:pPr>
            <a:r>
              <a:rPr lang="en-US" b="0" i="0" dirty="0">
                <a:solidFill>
                  <a:srgbClr val="0D0D0D"/>
                </a:solidFill>
                <a:effectLst/>
                <a:highlight>
                  <a:srgbClr val="FFFFFF"/>
                </a:highlight>
                <a:latin typeface="Times New Roman" panose="02020603050405020304" charset="0"/>
                <a:cs typeface="Times New Roman" panose="02020603050405020304" charset="0"/>
              </a:rPr>
              <a:t>Literature Survey</a:t>
            </a:r>
          </a:p>
          <a:p>
            <a:pPr algn="l">
              <a:buFont typeface="+mj-lt"/>
              <a:buAutoNum type="arabicPeriod"/>
            </a:pPr>
            <a:r>
              <a:rPr lang="en-US" b="0" i="0" dirty="0">
                <a:solidFill>
                  <a:srgbClr val="0D0D0D"/>
                </a:solidFill>
                <a:effectLst/>
                <a:highlight>
                  <a:srgbClr val="FFFFFF"/>
                </a:highlight>
                <a:latin typeface="Times New Roman" panose="02020603050405020304" charset="0"/>
                <a:cs typeface="Times New Roman" panose="02020603050405020304" charset="0"/>
              </a:rPr>
              <a:t>Research Gap</a:t>
            </a:r>
          </a:p>
          <a:p>
            <a:pPr algn="l">
              <a:buFont typeface="+mj-lt"/>
              <a:buAutoNum type="arabicPeriod"/>
            </a:pPr>
            <a:r>
              <a:rPr lang="en-US" b="0" i="0" dirty="0">
                <a:solidFill>
                  <a:srgbClr val="0D0D0D"/>
                </a:solidFill>
                <a:effectLst/>
                <a:highlight>
                  <a:srgbClr val="FFFFFF"/>
                </a:highlight>
                <a:latin typeface="Times New Roman" panose="02020603050405020304" charset="0"/>
                <a:cs typeface="Times New Roman" panose="02020603050405020304" charset="0"/>
              </a:rPr>
              <a:t>Motivation</a:t>
            </a:r>
          </a:p>
          <a:p>
            <a:pPr algn="l">
              <a:buFont typeface="+mj-lt"/>
              <a:buAutoNum type="arabicPeriod"/>
            </a:pPr>
            <a:r>
              <a:rPr lang="en-US" dirty="0">
                <a:solidFill>
                  <a:srgbClr val="0D0D0D"/>
                </a:solidFill>
                <a:effectLst/>
                <a:highlight>
                  <a:srgbClr val="FFFFFF"/>
                </a:highlight>
                <a:latin typeface="Times New Roman" panose="02020603050405020304" charset="0"/>
                <a:cs typeface="Times New Roman" panose="02020603050405020304" charset="0"/>
                <a:sym typeface="+mn-ea"/>
              </a:rPr>
              <a:t> Problem Statement</a:t>
            </a:r>
            <a:endParaRPr lang="en-US" b="0" i="0" dirty="0">
              <a:solidFill>
                <a:srgbClr val="0D0D0D"/>
              </a:solidFill>
              <a:effectLst/>
              <a:highlight>
                <a:srgbClr val="FFFFFF"/>
              </a:highlight>
              <a:latin typeface="Times New Roman" panose="02020603050405020304" charset="0"/>
              <a:cs typeface="Times New Roman" panose="02020603050405020304" charset="0"/>
            </a:endParaRPr>
          </a:p>
          <a:p>
            <a:pPr algn="l">
              <a:buFont typeface="+mj-lt"/>
              <a:buAutoNum type="arabicPeriod"/>
            </a:pPr>
            <a:r>
              <a:rPr lang="en-US" dirty="0">
                <a:solidFill>
                  <a:srgbClr val="0D0D0D"/>
                </a:solidFill>
                <a:effectLst/>
                <a:highlight>
                  <a:srgbClr val="FFFFFF"/>
                </a:highlight>
                <a:latin typeface="Times New Roman" panose="02020603050405020304" charset="0"/>
                <a:cs typeface="Times New Roman" panose="02020603050405020304" charset="0"/>
                <a:sym typeface="+mn-ea"/>
              </a:rPr>
              <a:t> Objectives </a:t>
            </a:r>
            <a:endParaRPr lang="en-US" b="0" i="0" dirty="0">
              <a:solidFill>
                <a:srgbClr val="0D0D0D"/>
              </a:solidFill>
              <a:effectLst/>
              <a:highlight>
                <a:srgbClr val="FFFFFF"/>
              </a:highlight>
              <a:latin typeface="Times New Roman" panose="02020603050405020304" charset="0"/>
              <a:cs typeface="Times New Roman" panose="02020603050405020304" charset="0"/>
            </a:endParaRPr>
          </a:p>
          <a:p>
            <a:pPr algn="l">
              <a:buFont typeface="+mj-lt"/>
              <a:buAutoNum type="arabicPeriod"/>
            </a:pPr>
            <a:r>
              <a:rPr lang="en-US" dirty="0">
                <a:solidFill>
                  <a:srgbClr val="0D0D0D"/>
                </a:solidFill>
                <a:effectLst/>
                <a:highlight>
                  <a:srgbClr val="FFFFFF"/>
                </a:highlight>
                <a:latin typeface="Times New Roman" panose="02020603050405020304" charset="0"/>
                <a:cs typeface="Times New Roman" panose="02020603050405020304" charset="0"/>
                <a:sym typeface="+mn-ea"/>
              </a:rPr>
              <a:t> Conclusion</a:t>
            </a:r>
            <a:endParaRPr lang="en-US" b="0" i="0" dirty="0">
              <a:solidFill>
                <a:srgbClr val="0D0D0D"/>
              </a:solidFill>
              <a:effectLst/>
              <a:highlight>
                <a:srgbClr val="FFFFFF"/>
              </a:highlight>
              <a:latin typeface="Times New Roman" panose="02020603050405020304" charset="0"/>
              <a:cs typeface="Times New Roman" panose="02020603050405020304" charset="0"/>
            </a:endParaRPr>
          </a:p>
          <a:p>
            <a:pPr algn="l">
              <a:buFont typeface="+mj-lt"/>
              <a:buAutoNum type="arabicPeriod"/>
            </a:pPr>
            <a:r>
              <a:rPr lang="en-US" dirty="0">
                <a:solidFill>
                  <a:srgbClr val="0D0D0D"/>
                </a:solidFill>
                <a:highlight>
                  <a:srgbClr val="FFFFFF"/>
                </a:highlight>
                <a:latin typeface="Times New Roman" panose="02020603050405020304" charset="0"/>
                <a:cs typeface="Times New Roman" panose="02020603050405020304" charset="0"/>
                <a:sym typeface="+mn-ea"/>
              </a:rPr>
              <a:t> References</a:t>
            </a:r>
            <a:endParaRPr lang="en-US" b="0" i="0" dirty="0">
              <a:solidFill>
                <a:srgbClr val="0D0D0D"/>
              </a:solidFill>
              <a:effectLst/>
              <a:highlight>
                <a:srgbClr val="FFFFFF"/>
              </a:highlight>
              <a:latin typeface="Times New Roman" panose="02020603050405020304" charset="0"/>
              <a:cs typeface="Times New Roman" panose="02020603050405020304" charset="0"/>
            </a:endParaRPr>
          </a:p>
          <a:p>
            <a:endParaRPr lang="en-US" dirty="0"/>
          </a:p>
        </p:txBody>
      </p:sp>
    </p:spTree>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charset="0"/>
                <a:cs typeface="Times New Roman" panose="02020603050405020304" charset="0"/>
              </a:rPr>
              <a:t>Introduction</a:t>
            </a:r>
          </a:p>
        </p:txBody>
      </p:sp>
      <p:sp>
        <p:nvSpPr>
          <p:cNvPr id="4" name="Content Placeholder 2"/>
          <p:cNvSpPr txBox="1"/>
          <p:nvPr/>
        </p:nvSpPr>
        <p:spPr>
          <a:xfrm>
            <a:off x="838200" y="1690370"/>
            <a:ext cx="7438390" cy="45815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err="1"/>
          </a:p>
          <a:p>
            <a:pPr>
              <a:buFont typeface="Wingdings" panose="05000000000000000000" charset="0"/>
              <a:buChar char="v"/>
            </a:pPr>
            <a:r>
              <a:rPr lang="en-US" sz="2400" dirty="0"/>
              <a:t>TuneTalk is a revolutionary platform that seamlessly blends the worlds of music streaming and integrated voice communication.</a:t>
            </a:r>
          </a:p>
          <a:p>
            <a:pPr>
              <a:buFont typeface="Wingdings" panose="05000000000000000000" charset="0"/>
              <a:buChar char="v"/>
            </a:pPr>
            <a:r>
              <a:rPr lang="en-US" sz="2400" dirty="0"/>
              <a:t>By combining these two essential features, TuneTalk enhances user experience by providing a one-stop solution for both entertainment and communication needs.</a:t>
            </a:r>
          </a:p>
          <a:p>
            <a:pPr>
              <a:buFont typeface="Wingdings" panose="05000000000000000000" charset="0"/>
              <a:buChar char="v"/>
            </a:pPr>
            <a:r>
              <a:rPr lang="en-US" sz="2400" dirty="0"/>
              <a:t>Instead of toggling between different apps .TuneTalk allows users to effortlessly switch between listening to music and talking over voice call without interrupting their flow</a:t>
            </a:r>
            <a:endParaRPr lang="en-US" sz="2400" dirty="0">
              <a:latin typeface="Times New Roman" panose="02020603050405020304" charset="0"/>
              <a:cs typeface="Times New Roman" panose="02020603050405020304" charset="0"/>
            </a:endParaRPr>
          </a:p>
        </p:txBody>
      </p:sp>
      <p:pic>
        <p:nvPicPr>
          <p:cNvPr id="7" name="Picture 6" descr="9322819"/>
          <p:cNvPicPr>
            <a:picLocks noChangeAspect="1"/>
          </p:cNvPicPr>
          <p:nvPr/>
        </p:nvPicPr>
        <p:blipFill>
          <a:blip r:embed="rId2"/>
          <a:stretch>
            <a:fillRect/>
          </a:stretch>
        </p:blipFill>
        <p:spPr>
          <a:xfrm>
            <a:off x="8117205" y="2006600"/>
            <a:ext cx="3429000" cy="3429000"/>
          </a:xfrm>
          <a:prstGeom prst="rect">
            <a:avLst/>
          </a:prstGeom>
          <a:ln>
            <a:solidFill>
              <a:schemeClr val="tx1"/>
            </a:solidFill>
          </a:ln>
        </p:spPr>
      </p:pic>
    </p:spTree>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charset="0"/>
                <a:cs typeface="Times New Roman" panose="02020603050405020304" charset="0"/>
                <a:sym typeface="+mn-ea"/>
              </a:rPr>
              <a:t>Team Size</a:t>
            </a:r>
            <a:endParaRPr lang="en-US" b="1" dirty="0">
              <a:latin typeface="Times New Roman" panose="02020603050405020304" charset="0"/>
              <a:cs typeface="Times New Roman" panose="02020603050405020304" charset="0"/>
            </a:endParaRPr>
          </a:p>
        </p:txBody>
      </p:sp>
      <p:sp>
        <p:nvSpPr>
          <p:cNvPr id="4" name="Content Placeholder 2"/>
          <p:cNvSpPr txBox="1"/>
          <p:nvPr/>
        </p:nvSpPr>
        <p:spPr>
          <a:xfrm>
            <a:off x="252095" y="1895475"/>
            <a:ext cx="6911340" cy="4186555"/>
          </a:xfrm>
          <a:prstGeom prst="rect">
            <a:avLst/>
          </a:prstGeom>
          <a:solidFill>
            <a:schemeClr val="bg1"/>
          </a:solidFill>
        </p:spPr>
        <p:txBody>
          <a:bodyPr vert="horz" lIns="91440" tIns="45720" rIns="91440" bIns="45720" rtlCol="0">
            <a:normAutofit fontScale="6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err="1"/>
          </a:p>
          <a:p>
            <a:pPr algn="just">
              <a:buFont typeface="Wingdings" panose="05000000000000000000" charset="0"/>
              <a:buChar char="Ø"/>
            </a:pPr>
            <a:r>
              <a:rPr lang="en-US" dirty="0">
                <a:solidFill>
                  <a:srgbClr val="0D0D0D"/>
                </a:solidFill>
                <a:effectLst/>
                <a:highlight>
                  <a:srgbClr val="FFFFFF"/>
                </a:highlight>
                <a:latin typeface="Times New Roman" panose="02020603050405020304" charset="0"/>
                <a:cs typeface="Times New Roman" panose="02020603050405020304" charset="0"/>
                <a:sym typeface="+mn-ea"/>
              </a:rPr>
              <a:t>Our project team consists of </a:t>
            </a:r>
            <a:r>
              <a:rPr lang="en-US" dirty="0">
                <a:solidFill>
                  <a:srgbClr val="0D0D0D"/>
                </a:solidFill>
                <a:highlight>
                  <a:srgbClr val="FFFFFF"/>
                </a:highlight>
                <a:latin typeface="Times New Roman" panose="02020603050405020304" charset="0"/>
                <a:cs typeface="Times New Roman" panose="02020603050405020304" charset="0"/>
                <a:sym typeface="+mn-ea"/>
              </a:rPr>
              <a:t>Six</a:t>
            </a:r>
            <a:r>
              <a:rPr lang="en-US" dirty="0">
                <a:solidFill>
                  <a:srgbClr val="0D0D0D"/>
                </a:solidFill>
                <a:effectLst/>
                <a:highlight>
                  <a:srgbClr val="FFFFFF"/>
                </a:highlight>
                <a:latin typeface="Times New Roman" panose="02020603050405020304" charset="0"/>
                <a:cs typeface="Times New Roman" panose="02020603050405020304" charset="0"/>
                <a:sym typeface="+mn-ea"/>
              </a:rPr>
              <a:t> members,</a:t>
            </a:r>
          </a:p>
          <a:p>
            <a:pPr marL="0" indent="0" algn="just">
              <a:buFont typeface="Wingdings" panose="05000000000000000000" charset="0"/>
              <a:buNone/>
            </a:pPr>
            <a:r>
              <a:rPr lang="en-US" sz="3000" b="1" dirty="0">
                <a:solidFill>
                  <a:srgbClr val="0D0D0D"/>
                </a:solidFill>
                <a:effectLst/>
                <a:highlight>
                  <a:srgbClr val="FFFFFF"/>
                </a:highlight>
                <a:latin typeface="Times New Roman" panose="02020603050405020304" charset="0"/>
                <a:cs typeface="Times New Roman" panose="02020603050405020304" charset="0"/>
                <a:sym typeface="+mn-ea"/>
              </a:rPr>
              <a:t>1. Viney Chhillar</a:t>
            </a:r>
          </a:p>
          <a:p>
            <a:pPr marL="0" indent="0" algn="just">
              <a:buFont typeface="Wingdings" panose="05000000000000000000" charset="0"/>
              <a:buNone/>
            </a:pPr>
            <a:r>
              <a:rPr lang="en-US" sz="3000" b="1" dirty="0">
                <a:solidFill>
                  <a:srgbClr val="0D0D0D"/>
                </a:solidFill>
                <a:effectLst/>
                <a:highlight>
                  <a:srgbClr val="FFFFFF"/>
                </a:highlight>
                <a:latin typeface="Times New Roman" panose="02020603050405020304" charset="0"/>
                <a:cs typeface="Times New Roman" panose="02020603050405020304" charset="0"/>
                <a:sym typeface="+mn-ea"/>
              </a:rPr>
              <a:t>2. Shivam Dhunotiya</a:t>
            </a:r>
          </a:p>
          <a:p>
            <a:pPr marL="0" indent="0" algn="just">
              <a:buFont typeface="Wingdings" panose="05000000000000000000" charset="0"/>
              <a:buNone/>
            </a:pPr>
            <a:r>
              <a:rPr lang="en-US" sz="3000" b="1" dirty="0">
                <a:solidFill>
                  <a:srgbClr val="0D0D0D"/>
                </a:solidFill>
                <a:effectLst/>
                <a:highlight>
                  <a:srgbClr val="FFFFFF"/>
                </a:highlight>
                <a:latin typeface="Times New Roman" panose="02020603050405020304" charset="0"/>
                <a:cs typeface="Times New Roman" panose="02020603050405020304" charset="0"/>
                <a:sym typeface="+mn-ea"/>
              </a:rPr>
              <a:t>3. </a:t>
            </a:r>
            <a:r>
              <a:rPr lang="en-US" sz="3000" b="1" dirty="0" err="1">
                <a:solidFill>
                  <a:srgbClr val="0D0D0D"/>
                </a:solidFill>
                <a:effectLst/>
                <a:highlight>
                  <a:srgbClr val="FFFFFF"/>
                </a:highlight>
                <a:latin typeface="Times New Roman" panose="02020603050405020304" charset="0"/>
                <a:cs typeface="Times New Roman" panose="02020603050405020304" charset="0"/>
                <a:sym typeface="+mn-ea"/>
              </a:rPr>
              <a:t>Omama</a:t>
            </a:r>
            <a:r>
              <a:rPr lang="en-US" sz="3000" b="1" dirty="0">
                <a:solidFill>
                  <a:srgbClr val="0D0D0D"/>
                </a:solidFill>
                <a:effectLst/>
                <a:highlight>
                  <a:srgbClr val="FFFFFF"/>
                </a:highlight>
                <a:latin typeface="Times New Roman" panose="02020603050405020304" charset="0"/>
                <a:cs typeface="Times New Roman" panose="02020603050405020304" charset="0"/>
                <a:sym typeface="+mn-ea"/>
              </a:rPr>
              <a:t> Beg</a:t>
            </a:r>
          </a:p>
          <a:p>
            <a:pPr marL="0" indent="0" algn="just">
              <a:buFont typeface="Wingdings" panose="05000000000000000000" charset="0"/>
              <a:buNone/>
            </a:pPr>
            <a:r>
              <a:rPr lang="en-US" sz="3000" b="1" dirty="0">
                <a:solidFill>
                  <a:srgbClr val="0D0D0D"/>
                </a:solidFill>
                <a:effectLst/>
                <a:highlight>
                  <a:srgbClr val="FFFFFF"/>
                </a:highlight>
                <a:latin typeface="Times New Roman" panose="02020603050405020304" charset="0"/>
                <a:cs typeface="Times New Roman" panose="02020603050405020304" charset="0"/>
                <a:sym typeface="+mn-ea"/>
              </a:rPr>
              <a:t>4. Harsh Singh</a:t>
            </a:r>
          </a:p>
          <a:p>
            <a:pPr marL="0" indent="0" algn="just">
              <a:buFont typeface="Wingdings" panose="05000000000000000000" charset="0"/>
              <a:buNone/>
            </a:pPr>
            <a:r>
              <a:rPr lang="en-US" sz="3000" b="1" dirty="0">
                <a:solidFill>
                  <a:srgbClr val="0D0D0D"/>
                </a:solidFill>
                <a:effectLst/>
                <a:highlight>
                  <a:srgbClr val="FFFFFF"/>
                </a:highlight>
                <a:latin typeface="Times New Roman" panose="02020603050405020304" charset="0"/>
                <a:cs typeface="Times New Roman" panose="02020603050405020304" charset="0"/>
                <a:sym typeface="+mn-ea"/>
              </a:rPr>
              <a:t>5. Abhinav Verma</a:t>
            </a:r>
          </a:p>
          <a:p>
            <a:pPr marL="0" indent="0" algn="just">
              <a:buFont typeface="Wingdings" panose="05000000000000000000" charset="0"/>
              <a:buNone/>
            </a:pPr>
            <a:r>
              <a:rPr lang="en-US" sz="3000" b="1" dirty="0">
                <a:solidFill>
                  <a:srgbClr val="0D0D0D"/>
                </a:solidFill>
                <a:effectLst/>
                <a:highlight>
                  <a:srgbClr val="FFFFFF"/>
                </a:highlight>
                <a:latin typeface="Times New Roman" panose="02020603050405020304" charset="0"/>
                <a:cs typeface="Times New Roman" panose="02020603050405020304" charset="0"/>
                <a:sym typeface="+mn-ea"/>
              </a:rPr>
              <a:t>6. Ankit Kumar Ojha</a:t>
            </a:r>
          </a:p>
          <a:p>
            <a:pPr marL="0" indent="0" algn="just">
              <a:buFont typeface="Wingdings" panose="05000000000000000000" charset="0"/>
              <a:buNone/>
            </a:pPr>
            <a:endParaRPr lang="en-US" dirty="0">
              <a:solidFill>
                <a:srgbClr val="0D0D0D"/>
              </a:solidFill>
              <a:effectLst/>
              <a:highlight>
                <a:srgbClr val="FFFFFF"/>
              </a:highlight>
              <a:latin typeface="Times New Roman" panose="02020603050405020304" charset="0"/>
              <a:cs typeface="Times New Roman" panose="02020603050405020304" charset="0"/>
              <a:sym typeface="+mn-ea"/>
            </a:endParaRPr>
          </a:p>
          <a:p>
            <a:pPr marL="0" indent="0" algn="just">
              <a:buFont typeface="Wingdings" panose="05000000000000000000" charset="0"/>
              <a:buNone/>
            </a:pPr>
            <a:r>
              <a:rPr lang="en-US" dirty="0">
                <a:solidFill>
                  <a:srgbClr val="0D0D0D"/>
                </a:solidFill>
                <a:highlight>
                  <a:srgbClr val="FFFFFF"/>
                </a:highlight>
                <a:latin typeface="Times New Roman" panose="02020603050405020304" charset="0"/>
                <a:cs typeface="Times New Roman" panose="02020603050405020304" charset="0"/>
                <a:sym typeface="+mn-ea"/>
              </a:rPr>
              <a:t>E</a:t>
            </a:r>
            <a:r>
              <a:rPr lang="en-US" dirty="0">
                <a:solidFill>
                  <a:srgbClr val="0D0D0D"/>
                </a:solidFill>
                <a:effectLst/>
                <a:highlight>
                  <a:srgbClr val="FFFFFF"/>
                </a:highlight>
                <a:latin typeface="Times New Roman" panose="02020603050405020304" charset="0"/>
                <a:cs typeface="Times New Roman" panose="02020603050405020304" charset="0"/>
                <a:sym typeface="+mn-ea"/>
              </a:rPr>
              <a:t>ach bringing unique skills and expertise to the table</a:t>
            </a:r>
          </a:p>
          <a:p>
            <a:pPr marL="0" indent="0" algn="just">
              <a:buFont typeface="Wingdings" panose="05000000000000000000" charset="0"/>
              <a:buNone/>
            </a:pPr>
            <a:endParaRPr lang="en-US" dirty="0">
              <a:solidFill>
                <a:srgbClr val="0D0D0D"/>
              </a:solidFill>
              <a:effectLst/>
              <a:highlight>
                <a:srgbClr val="FFFFFF"/>
              </a:highlight>
              <a:latin typeface="Times New Roman" panose="02020603050405020304" charset="0"/>
              <a:cs typeface="Times New Roman" panose="02020603050405020304" charset="0"/>
              <a:sym typeface="+mn-ea"/>
            </a:endParaRPr>
          </a:p>
          <a:p>
            <a:pPr algn="just">
              <a:buFont typeface="Wingdings" panose="05000000000000000000" charset="0"/>
              <a:buChar char="Ø"/>
            </a:pPr>
            <a:r>
              <a:rPr lang="en-US" dirty="0">
                <a:solidFill>
                  <a:srgbClr val="0D0D0D"/>
                </a:solidFill>
                <a:effectLst/>
                <a:highlight>
                  <a:srgbClr val="FFFFFF"/>
                </a:highlight>
                <a:latin typeface="Times New Roman" panose="02020603050405020304" charset="0"/>
                <a:cs typeface="Times New Roman" panose="02020603050405020304" charset="0"/>
                <a:sym typeface="+mn-ea"/>
              </a:rPr>
              <a:t>With a collaborative approach, we aim to leverage our collective strengths to effectively execute the project.</a:t>
            </a:r>
            <a:endParaRPr lang="en-US" b="0" i="0" dirty="0">
              <a:solidFill>
                <a:srgbClr val="0D0D0D"/>
              </a:solidFill>
              <a:effectLst/>
              <a:highlight>
                <a:srgbClr val="FFFFFF"/>
              </a:highlight>
              <a:latin typeface="Times New Roman" panose="02020603050405020304" charset="0"/>
              <a:cs typeface="Times New Roman" panose="02020603050405020304" charset="0"/>
            </a:endParaRPr>
          </a:p>
          <a:p>
            <a:pPr>
              <a:buFont typeface="Wingdings" panose="05000000000000000000" charset="0"/>
              <a:buChar char="v"/>
            </a:pPr>
            <a:endParaRPr lang="en-US" b="0" i="0" dirty="0">
              <a:solidFill>
                <a:srgbClr val="0D0D0D"/>
              </a:solidFill>
              <a:effectLst/>
              <a:highlight>
                <a:srgbClr val="FFFFFF"/>
              </a:highlight>
              <a:latin typeface="Times New Roman" panose="02020603050405020304" charset="0"/>
              <a:cs typeface="Times New Roman" panose="02020603050405020304" charset="0"/>
            </a:endParaRPr>
          </a:p>
        </p:txBody>
      </p:sp>
      <p:pic>
        <p:nvPicPr>
          <p:cNvPr id="13" name="Content Placeholder 12" descr="teamsize"/>
          <p:cNvPicPr>
            <a:picLocks noGrp="1" noChangeAspect="1"/>
          </p:cNvPicPr>
          <p:nvPr>
            <p:ph idx="1"/>
          </p:nvPr>
        </p:nvPicPr>
        <p:blipFill>
          <a:blip r:embed="rId2"/>
          <a:stretch>
            <a:fillRect/>
          </a:stretch>
        </p:blipFill>
        <p:spPr>
          <a:xfrm>
            <a:off x="7423150" y="2397125"/>
            <a:ext cx="4432935" cy="2857500"/>
          </a:xfrm>
          <a:prstGeom prst="rect">
            <a:avLst/>
          </a:prstGeom>
          <a:ln>
            <a:solidFill>
              <a:schemeClr val="tx1"/>
            </a:solidFill>
          </a:ln>
          <a:effectLst>
            <a:glow rad="63500">
              <a:schemeClr val="accent3">
                <a:satMod val="175000"/>
                <a:alpha val="40000"/>
              </a:schemeClr>
            </a:glow>
            <a:outerShdw blurRad="50800" dist="38100" dir="2700000" algn="tl" rotWithShape="0">
              <a:prstClr val="black">
                <a:alpha val="40000"/>
              </a:prstClr>
            </a:outerShdw>
          </a:effectLst>
          <a:scene3d>
            <a:camera prst="perspectiveFront"/>
            <a:lightRig rig="threePt" dir="t"/>
          </a:scene3d>
        </p:spPr>
      </p:pic>
    </p:spTree>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p:txBody>
          <a:bodyPr/>
          <a:lstStyle/>
          <a:p>
            <a:pPr algn="ctr"/>
            <a:r>
              <a:rPr lang="en-US" b="1" dirty="0">
                <a:latin typeface="Times New Roman" panose="02020603050405020304" charset="0"/>
                <a:cs typeface="Times New Roman" panose="02020603050405020304" charset="0"/>
              </a:rPr>
              <a:t>Importance</a:t>
            </a:r>
            <a:endParaRPr lang="en-IN" b="1" dirty="0">
              <a:latin typeface="Times New Roman" panose="02020603050405020304" charset="0"/>
              <a:cs typeface="Times New Roman" panose="02020603050405020304" charset="0"/>
            </a:endParaRPr>
          </a:p>
        </p:txBody>
      </p:sp>
      <p:sp>
        <p:nvSpPr>
          <p:cNvPr id="5" name="Content Placeholder 2"/>
          <p:cNvSpPr>
            <a:spLocks noGrp="1"/>
          </p:cNvSpPr>
          <p:nvPr>
            <p:ph sz="half" idx="1"/>
          </p:nvPr>
        </p:nvSpPr>
        <p:spPr>
          <a:xfrm>
            <a:off x="208280" y="1825625"/>
            <a:ext cx="7584440" cy="4761230"/>
          </a:xfrm>
        </p:spPr>
        <p:txBody>
          <a:bodyPr>
            <a:normAutofit lnSpcReduction="10000"/>
          </a:bodyPr>
          <a:lstStyle/>
          <a:p>
            <a:r>
              <a:rPr lang="en-US" sz="2400" b="1" dirty="0"/>
              <a:t>Enhance User Experience</a:t>
            </a:r>
            <a:r>
              <a:rPr lang="en-US" sz="2400" dirty="0"/>
              <a:t>: By integrating music and voice communication, </a:t>
            </a:r>
            <a:r>
              <a:rPr lang="en-US" sz="2400" dirty="0" err="1"/>
              <a:t>TuneTalk</a:t>
            </a:r>
            <a:r>
              <a:rPr lang="en-US" sz="2400" dirty="0"/>
              <a:t> provides a richer and more immersive experience for users, leading to higher engagement and satisfaction.</a:t>
            </a:r>
          </a:p>
          <a:p>
            <a:pPr marL="0" indent="0">
              <a:buNone/>
            </a:pPr>
            <a:endParaRPr lang="en-US" sz="2400" dirty="0"/>
          </a:p>
          <a:p>
            <a:r>
              <a:rPr lang="en-US" sz="2400" b="1" dirty="0"/>
              <a:t>Facilitate Emotional Expression</a:t>
            </a:r>
            <a:r>
              <a:rPr lang="en-US" sz="2400" dirty="0"/>
              <a:t>: Music is a powerful medium for emotional expression. By incorporating it into communication, </a:t>
            </a:r>
            <a:r>
              <a:rPr lang="en-US" sz="2400" dirty="0" err="1"/>
              <a:t>TuneTalk</a:t>
            </a:r>
            <a:r>
              <a:rPr lang="en-US" sz="2400" dirty="0"/>
              <a:t> allows users to convey feelings and connect on a deeper level.</a:t>
            </a:r>
          </a:p>
          <a:p>
            <a:pPr marL="0" indent="0">
              <a:buNone/>
            </a:pPr>
            <a:endParaRPr lang="en-US" sz="2400" dirty="0"/>
          </a:p>
          <a:p>
            <a:r>
              <a:rPr lang="en-IN" sz="2400" b="1" dirty="0">
                <a:latin typeface="Times New Roman" panose="02020603050405020304" charset="0"/>
                <a:cs typeface="Times New Roman" panose="02020603050405020304" charset="0"/>
              </a:rPr>
              <a:t>Efficient Multitasking:</a:t>
            </a:r>
            <a:r>
              <a:rPr lang="en-IN" sz="2400" dirty="0">
                <a:latin typeface="Times New Roman" panose="02020603050405020304" charset="0"/>
                <a:cs typeface="Times New Roman" panose="02020603050405020304" charset="0"/>
              </a:rPr>
              <a:t> With TuneTalk, users can multitask efficiently, toggling between music and voice calls without having to switch between multiple apps, saving time and reducing distractions.</a:t>
            </a:r>
          </a:p>
        </p:txBody>
      </p:sp>
      <p:pic>
        <p:nvPicPr>
          <p:cNvPr id="2" name="Content Placeholder 1" descr="cartoon-textbook-character-with-pointer-teacher-vector-44655277"/>
          <p:cNvPicPr>
            <a:picLocks noGrp="1" noChangeAspect="1"/>
          </p:cNvPicPr>
          <p:nvPr>
            <p:ph sz="half" idx="2"/>
          </p:nvPr>
        </p:nvPicPr>
        <p:blipFill>
          <a:blip r:embed="rId2"/>
          <a:stretch>
            <a:fillRect/>
          </a:stretch>
        </p:blipFill>
        <p:spPr>
          <a:xfrm>
            <a:off x="7793355" y="1253490"/>
            <a:ext cx="3973830" cy="4351655"/>
          </a:xfrm>
          <a:prstGeom prst="rect">
            <a:avLst/>
          </a:prstGeom>
        </p:spPr>
      </p:pic>
    </p:spTree>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838200" y="365125"/>
            <a:ext cx="4669155" cy="1325880"/>
          </a:xfrm>
        </p:spPr>
        <p:txBody>
          <a:bodyPr/>
          <a:lstStyle/>
          <a:p>
            <a:pPr algn="ctr"/>
            <a:r>
              <a:rPr lang="en-US" b="1" dirty="0">
                <a:latin typeface="Times New Roman" panose="02020603050405020304" charset="0"/>
                <a:cs typeface="Times New Roman" panose="02020603050405020304" charset="0"/>
              </a:rPr>
              <a:t>Literature Survey</a:t>
            </a:r>
            <a:endParaRPr lang="en-IN" b="1" dirty="0">
              <a:latin typeface="Times New Roman" panose="02020603050405020304" charset="0"/>
              <a:cs typeface="Times New Roman" panose="02020603050405020304" charset="0"/>
            </a:endParaRPr>
          </a:p>
        </p:txBody>
      </p:sp>
      <p:sp>
        <p:nvSpPr>
          <p:cNvPr id="5" name="Content Placeholder 2"/>
          <p:cNvSpPr>
            <a:spLocks noGrp="1"/>
          </p:cNvSpPr>
          <p:nvPr>
            <p:ph sz="half" idx="1"/>
          </p:nvPr>
        </p:nvSpPr>
        <p:spPr>
          <a:xfrm>
            <a:off x="208280" y="1942465"/>
            <a:ext cx="11349990" cy="4644390"/>
          </a:xfrm>
        </p:spPr>
        <p:txBody>
          <a:bodyPr>
            <a:normAutofit fontScale="80000" lnSpcReduction="10000"/>
          </a:bodyPr>
          <a:lstStyle/>
          <a:p>
            <a:r>
              <a:rPr sz="2400" dirty="0">
                <a:latin typeface="Times New Roman" panose="02020603050405020304" charset="0"/>
                <a:cs typeface="Times New Roman" panose="02020603050405020304" charset="0"/>
              </a:rPr>
              <a:t>Based on our review of existing music streaming and communication platforms</a:t>
            </a:r>
            <a:r>
              <a:rPr lang="en-US" sz="2400" dirty="0">
                <a:latin typeface="Times New Roman" panose="02020603050405020304" charset="0"/>
                <a:cs typeface="Times New Roman" panose="02020603050405020304" charset="0"/>
              </a:rPr>
              <a:t> these are the apps used:</a:t>
            </a:r>
            <a:endParaRPr sz="2400" dirty="0">
              <a:latin typeface="Times New Roman" panose="02020603050405020304" charset="0"/>
              <a:cs typeface="Times New Roman" panose="02020603050405020304" charset="0"/>
            </a:endParaRPr>
          </a:p>
          <a:p>
            <a:r>
              <a:rPr sz="2400" b="1" dirty="0">
                <a:latin typeface="Times New Roman" panose="02020603050405020304" charset="0"/>
                <a:cs typeface="Times New Roman" panose="02020603050405020304" charset="0"/>
              </a:rPr>
              <a:t>Spotify's Superior Recommendation System:</a:t>
            </a:r>
            <a:r>
              <a:rPr sz="2400" dirty="0">
                <a:latin typeface="Times New Roman" panose="02020603050405020304" charset="0"/>
                <a:cs typeface="Times New Roman" panose="02020603050405020304" charset="0"/>
              </a:rPr>
              <a:t> Spotify stands out for its advanced song recommendation algorithms, which attract users seeking personalized music suggestions tailored to their tastes. Additionally, its premium users can create virtual rooms for group listening experiences, addressing the need for social interaction while enjoying music.</a:t>
            </a:r>
          </a:p>
          <a:p>
            <a:r>
              <a:rPr sz="2400" b="1" dirty="0">
                <a:latin typeface="Times New Roman" panose="02020603050405020304" charset="0"/>
                <a:cs typeface="Times New Roman" panose="02020603050405020304" charset="0"/>
              </a:rPr>
              <a:t>Apple Music's 3D Head Tracking Technology:</a:t>
            </a:r>
            <a:r>
              <a:rPr sz="2400" dirty="0">
                <a:latin typeface="Times New Roman" panose="02020603050405020304" charset="0"/>
                <a:cs typeface="Times New Roman" panose="02020603050405020304" charset="0"/>
              </a:rPr>
              <a:t> Apple Music offers innovative features such as 3D head tracking, enhancing the immersive experience for users who value high-quality audio and advanced technologies.</a:t>
            </a:r>
          </a:p>
          <a:p>
            <a:r>
              <a:rPr sz="2400" b="1" dirty="0">
                <a:latin typeface="Times New Roman" panose="02020603050405020304" charset="0"/>
                <a:cs typeface="Times New Roman" panose="02020603050405020304" charset="0"/>
              </a:rPr>
              <a:t>Gaana Music's HD Streaming:</a:t>
            </a:r>
            <a:r>
              <a:rPr sz="2400" dirty="0">
                <a:latin typeface="Times New Roman" panose="02020603050405020304" charset="0"/>
                <a:cs typeface="Times New Roman" panose="02020603050405020304" charset="0"/>
              </a:rPr>
              <a:t> Gaana Music distinguishes itself by providing music streaming in HD quality, appealing to users who prioritize audio fidelity and superior sound reproduction.</a:t>
            </a:r>
          </a:p>
          <a:p>
            <a:r>
              <a:rPr sz="2400" b="1" dirty="0">
                <a:latin typeface="Times New Roman" panose="02020603050405020304" charset="0"/>
                <a:cs typeface="Times New Roman" panose="02020603050405020304" charset="0"/>
              </a:rPr>
              <a:t>Amazon Prime Music's Extensive Library:</a:t>
            </a:r>
            <a:r>
              <a:rPr sz="2400" dirty="0">
                <a:latin typeface="Times New Roman" panose="02020603050405020304" charset="0"/>
                <a:cs typeface="Times New Roman" panose="02020603050405020304" charset="0"/>
              </a:rPr>
              <a:t> Amazon Prime Music boasts a vast collection of songs, leveraging the popularity and convenience of Amazon Prime memberships to attract users looking for a comprehensive music streaming service.</a:t>
            </a:r>
          </a:p>
          <a:p>
            <a:r>
              <a:rPr sz="2400" b="1" dirty="0">
                <a:latin typeface="Times New Roman" panose="02020603050405020304" charset="0"/>
                <a:cs typeface="Times New Roman" panose="02020603050405020304" charset="0"/>
              </a:rPr>
              <a:t>YouTube Music's Broad Content Availability:</a:t>
            </a:r>
            <a:r>
              <a:rPr sz="2400" dirty="0">
                <a:latin typeface="Times New Roman" panose="02020603050405020304" charset="0"/>
                <a:cs typeface="Times New Roman" panose="02020603050405020304" charset="0"/>
              </a:rPr>
              <a:t> YouTube Music benefits from its extensive library, with virtually every song being available and released on the platform. Its robust recommendation system further enhances the user experience by suggesting relevant content based on individual preferences.</a:t>
            </a:r>
          </a:p>
        </p:txBody>
      </p:sp>
      <p:pic>
        <p:nvPicPr>
          <p:cNvPr id="6" name="Content Placeholder 5" descr="survey"/>
          <p:cNvPicPr>
            <a:picLocks noGrp="1" noChangeAspect="1"/>
          </p:cNvPicPr>
          <p:nvPr>
            <p:ph sz="half" idx="2"/>
          </p:nvPr>
        </p:nvPicPr>
        <p:blipFill>
          <a:blip r:embed="rId2"/>
          <a:srcRect t="13560"/>
          <a:stretch>
            <a:fillRect/>
          </a:stretch>
        </p:blipFill>
        <p:spPr>
          <a:xfrm>
            <a:off x="7415530" y="205740"/>
            <a:ext cx="3113405" cy="1603375"/>
          </a:xfrm>
          <a:prstGeom prst="rect">
            <a:avLst/>
          </a:prstGeom>
          <a:ln>
            <a:solidFill>
              <a:schemeClr val="tx1"/>
            </a:solidFill>
          </a:ln>
        </p:spPr>
      </p:pic>
    </p:spTree>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838200" y="365125"/>
            <a:ext cx="4698365" cy="1325880"/>
          </a:xfrm>
        </p:spPr>
        <p:txBody>
          <a:bodyPr/>
          <a:lstStyle/>
          <a:p>
            <a:pPr algn="ctr"/>
            <a:r>
              <a:rPr lang="en-US" altLang="en-IN" b="1" dirty="0">
                <a:latin typeface="Times New Roman" panose="02020603050405020304" charset="0"/>
                <a:cs typeface="Times New Roman" panose="02020603050405020304" charset="0"/>
              </a:rPr>
              <a:t>Research Gap</a:t>
            </a:r>
          </a:p>
        </p:txBody>
      </p:sp>
      <p:sp>
        <p:nvSpPr>
          <p:cNvPr id="5" name="Content Placeholder 2"/>
          <p:cNvSpPr>
            <a:spLocks noGrp="1"/>
          </p:cNvSpPr>
          <p:nvPr>
            <p:ph sz="half" idx="1"/>
          </p:nvPr>
        </p:nvSpPr>
        <p:spPr>
          <a:xfrm>
            <a:off x="164465" y="2294255"/>
            <a:ext cx="11760200" cy="4425315"/>
          </a:xfrm>
        </p:spPr>
        <p:txBody>
          <a:bodyPr>
            <a:noAutofit/>
          </a:bodyPr>
          <a:lstStyle/>
          <a:p>
            <a:pPr marL="0" indent="0">
              <a:buNone/>
            </a:pPr>
            <a:endParaRPr sz="1200" dirty="0">
              <a:latin typeface="Times New Roman" panose="02020603050405020304" charset="0"/>
              <a:cs typeface="Times New Roman" panose="02020603050405020304" charset="0"/>
            </a:endParaRPr>
          </a:p>
          <a:p>
            <a:pPr marL="0" indent="0">
              <a:buNone/>
            </a:pPr>
            <a:r>
              <a:rPr sz="1800" b="1" dirty="0">
                <a:latin typeface="Times New Roman" panose="02020603050405020304" charset="0"/>
                <a:cs typeface="Times New Roman" panose="02020603050405020304" charset="0"/>
              </a:rPr>
              <a:t>Spotify:</a:t>
            </a:r>
            <a:r>
              <a:rPr lang="en-US" sz="1800" dirty="0">
                <a:latin typeface="Times New Roman" panose="02020603050405020304" charset="0"/>
                <a:cs typeface="Times New Roman" panose="02020603050405020304" charset="0"/>
              </a:rPr>
              <a:t> </a:t>
            </a:r>
            <a:r>
              <a:rPr sz="1800" dirty="0">
                <a:latin typeface="Times New Roman" panose="02020603050405020304" charset="0"/>
                <a:cs typeface="Times New Roman" panose="02020603050405020304" charset="0"/>
              </a:rPr>
              <a:t>Enhanced Control in Hosted Rooms: Investigate methods to provide more control to hosts in Spotify's hosted rooms, allowing for better management of interactions and content within the room.</a:t>
            </a:r>
          </a:p>
          <a:p>
            <a:pPr marL="0" indent="0">
              <a:buNone/>
            </a:pPr>
            <a:r>
              <a:rPr sz="1800" b="1" dirty="0">
                <a:latin typeface="Times New Roman" panose="02020603050405020304" charset="0"/>
                <a:cs typeface="Times New Roman" panose="02020603050405020304" charset="0"/>
              </a:rPr>
              <a:t>Apple Music:</a:t>
            </a:r>
            <a:r>
              <a:rPr lang="en-US" sz="1800" dirty="0">
                <a:latin typeface="Times New Roman" panose="02020603050405020304" charset="0"/>
                <a:cs typeface="Times New Roman" panose="02020603050405020304" charset="0"/>
              </a:rPr>
              <a:t> </a:t>
            </a:r>
            <a:r>
              <a:rPr sz="1800" dirty="0">
                <a:latin typeface="Times New Roman" panose="02020603050405020304" charset="0"/>
                <a:cs typeface="Times New Roman" panose="02020603050405020304" charset="0"/>
              </a:rPr>
              <a:t>Smart Playlist/Filtering System: Explore the development of a smart playlist and filtering system for Apple Music to facilitate efficient organization and navigation within users' music libraries.</a:t>
            </a:r>
          </a:p>
          <a:p>
            <a:pPr marL="0" indent="0">
              <a:buNone/>
            </a:pPr>
            <a:r>
              <a:rPr sz="1800" b="1" dirty="0">
                <a:latin typeface="Times New Roman" panose="02020603050405020304" charset="0"/>
                <a:cs typeface="Times New Roman" panose="02020603050405020304" charset="0"/>
              </a:rPr>
              <a:t>Gaana Music:</a:t>
            </a:r>
            <a:r>
              <a:rPr lang="en-US" sz="1800" dirty="0">
                <a:latin typeface="Times New Roman" panose="02020603050405020304" charset="0"/>
                <a:cs typeface="Times New Roman" panose="02020603050405020304" charset="0"/>
              </a:rPr>
              <a:t> </a:t>
            </a:r>
            <a:r>
              <a:rPr sz="1800" dirty="0">
                <a:latin typeface="Times New Roman" panose="02020603050405020304" charset="0"/>
                <a:cs typeface="Times New Roman" panose="02020603050405020304" charset="0"/>
              </a:rPr>
              <a:t>Improving Discoverability and Navigation: Conduct research to address issues of discoverability and clutter on Gaana Music's home screen, aiming to enhance user experience through improved content organization and navigation.</a:t>
            </a:r>
          </a:p>
          <a:p>
            <a:pPr marL="0" indent="0">
              <a:buNone/>
            </a:pPr>
            <a:r>
              <a:rPr sz="1800" b="1" dirty="0">
                <a:latin typeface="Times New Roman" panose="02020603050405020304" charset="0"/>
                <a:cs typeface="Times New Roman" panose="02020603050405020304" charset="0"/>
              </a:rPr>
              <a:t>Amazon Music:</a:t>
            </a:r>
            <a:r>
              <a:rPr sz="1800" dirty="0">
                <a:latin typeface="Times New Roman" panose="02020603050405020304" charset="0"/>
                <a:cs typeface="Times New Roman" panose="02020603050405020304" charset="0"/>
              </a:rPr>
              <a:t>Enhanced Streaming Quality: Investigate methods to improve Amazon Music's streaming quality, particularly in delivering HD audio streaming to enhance the overall listening experience for users.</a:t>
            </a:r>
          </a:p>
          <a:p>
            <a:pPr marL="0" indent="0">
              <a:buNone/>
            </a:pPr>
            <a:r>
              <a:rPr sz="1800" b="1" dirty="0">
                <a:latin typeface="Times New Roman" panose="02020603050405020304" charset="0"/>
                <a:cs typeface="Times New Roman" panose="02020603050405020304" charset="0"/>
              </a:rPr>
              <a:t>YouTube Music:</a:t>
            </a:r>
            <a:r>
              <a:rPr lang="en-US" sz="1800" b="1" dirty="0">
                <a:latin typeface="Times New Roman" panose="02020603050405020304" charset="0"/>
                <a:cs typeface="Times New Roman" panose="02020603050405020304" charset="0"/>
              </a:rPr>
              <a:t> </a:t>
            </a:r>
            <a:r>
              <a:rPr sz="1800" dirty="0">
                <a:latin typeface="Times New Roman" panose="02020603050405020304" charset="0"/>
                <a:cs typeface="Times New Roman" panose="02020603050405020304" charset="0"/>
              </a:rPr>
              <a:t>Background Play Feature: Research the implementation of a background play feature for songs on YouTube Music, addressing user demand for continuous music playback while using other applications or when the screen is turned off.</a:t>
            </a:r>
          </a:p>
          <a:p>
            <a:pPr marL="0" indent="0">
              <a:buNone/>
            </a:pPr>
            <a:r>
              <a:rPr sz="1800" dirty="0">
                <a:latin typeface="Times New Roman" panose="02020603050405020304" charset="0"/>
                <a:cs typeface="Times New Roman" panose="02020603050405020304" charset="0"/>
              </a:rPr>
              <a:t>By focusing on these specific research gaps for each platform type, developers and researchers can work towards improving the respective platforms and addressing the needs and preferences of users.</a:t>
            </a:r>
          </a:p>
        </p:txBody>
      </p:sp>
      <p:pic>
        <p:nvPicPr>
          <p:cNvPr id="3" name="Content Placeholder 2"/>
          <p:cNvPicPr>
            <a:picLocks noGrp="1" noChangeAspect="1"/>
          </p:cNvPicPr>
          <p:nvPr>
            <p:ph sz="half" idx="2"/>
          </p:nvPr>
        </p:nvPicPr>
        <p:blipFill>
          <a:blip r:embed="rId2"/>
          <a:stretch>
            <a:fillRect/>
          </a:stretch>
        </p:blipFill>
        <p:spPr>
          <a:xfrm>
            <a:off x="7110095" y="66675"/>
            <a:ext cx="4444365" cy="2227580"/>
          </a:xfrm>
          <a:prstGeom prst="rect">
            <a:avLst/>
          </a:prstGeom>
          <a:ln>
            <a:solidFill>
              <a:schemeClr val="tx1"/>
            </a:solidFill>
          </a:ln>
        </p:spPr>
      </p:pic>
    </p:spTree>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838200" y="403809"/>
            <a:ext cx="10515600" cy="1325563"/>
          </a:xfrm>
        </p:spPr>
        <p:txBody>
          <a:bodyPr/>
          <a:lstStyle/>
          <a:p>
            <a:pPr algn="ctr"/>
            <a:r>
              <a:rPr lang="en-US" b="1" dirty="0">
                <a:latin typeface="Times New Roman" panose="02020603050405020304" charset="0"/>
                <a:cs typeface="Times New Roman" panose="02020603050405020304" charset="0"/>
              </a:rPr>
              <a:t>Motivation</a:t>
            </a:r>
            <a:endParaRPr lang="en-IN" b="1" dirty="0">
              <a:latin typeface="Times New Roman" panose="02020603050405020304" charset="0"/>
              <a:cs typeface="Times New Roman" panose="02020603050405020304" charset="0"/>
            </a:endParaRPr>
          </a:p>
        </p:txBody>
      </p:sp>
      <p:sp>
        <p:nvSpPr>
          <p:cNvPr id="5" name="Content Placeholder 2"/>
          <p:cNvSpPr>
            <a:spLocks noGrp="1"/>
          </p:cNvSpPr>
          <p:nvPr>
            <p:ph idx="1"/>
          </p:nvPr>
        </p:nvSpPr>
        <p:spPr>
          <a:xfrm>
            <a:off x="838200" y="1955165"/>
            <a:ext cx="6354445" cy="4351655"/>
          </a:xfrm>
        </p:spPr>
        <p:txBody>
          <a:bodyPr>
            <a:normAutofit fontScale="90000" lnSpcReduction="10000"/>
          </a:bodyPr>
          <a:lstStyle/>
          <a:p>
            <a:pPr algn="just">
              <a:lnSpc>
                <a:spcPct val="100000"/>
              </a:lnSpc>
              <a:buFont typeface="Wingdings" panose="05000000000000000000" charset="0"/>
              <a:buChar char="§"/>
            </a:pPr>
            <a:r>
              <a:rPr lang="en-US" altLang="en-IN" sz="2400" dirty="0">
                <a:latin typeface="Times New Roman" panose="02020603050405020304" charset="0"/>
                <a:cs typeface="Times New Roman" panose="02020603050405020304" charset="0"/>
              </a:rPr>
              <a:t>After Resso was banned, there weren't any appealing alternatives. Spotify, although available, charged for its services and didn't offer as many features. It was this lack of satisfactory options that motivated us to embark on this project</a:t>
            </a:r>
          </a:p>
          <a:p>
            <a:pPr algn="just">
              <a:lnSpc>
                <a:spcPct val="100000"/>
              </a:lnSpc>
              <a:buFont typeface="Wingdings" panose="05000000000000000000" charset="0"/>
              <a:buChar char="§"/>
            </a:pPr>
            <a:r>
              <a:rPr lang="en-IN" sz="2400" dirty="0">
                <a:latin typeface="Times New Roman" panose="02020603050405020304" charset="0"/>
                <a:cs typeface="Times New Roman" panose="02020603050405020304" charset="0"/>
              </a:rPr>
              <a:t>So, we decided to incorporate features from Resso, some from Spotify, and others from different apps into our project</a:t>
            </a:r>
            <a:r>
              <a:rPr lang="en-US" altLang="en-IN" sz="2400" dirty="0">
                <a:latin typeface="Times New Roman" panose="02020603050405020304" charset="0"/>
                <a:cs typeface="Times New Roman" panose="02020603050405020304" charset="0"/>
              </a:rPr>
              <a:t>.</a:t>
            </a:r>
            <a:endParaRPr lang="en-IN" sz="2400" dirty="0">
              <a:latin typeface="Times New Roman" panose="02020603050405020304" charset="0"/>
              <a:cs typeface="Times New Roman" panose="02020603050405020304" charset="0"/>
            </a:endParaRPr>
          </a:p>
          <a:p>
            <a:pPr algn="just">
              <a:lnSpc>
                <a:spcPct val="100000"/>
              </a:lnSpc>
              <a:buFont typeface="Wingdings" panose="05000000000000000000" charset="0"/>
              <a:buChar char="§"/>
            </a:pPr>
            <a:r>
              <a:rPr lang="en-IN" sz="2400" dirty="0">
                <a:latin typeface="Times New Roman" panose="02020603050405020304" charset="0"/>
                <a:cs typeface="Times New Roman" panose="02020603050405020304" charset="0"/>
              </a:rPr>
              <a:t>Stay connected with loved ones while enjoying your favorite music.</a:t>
            </a:r>
          </a:p>
          <a:p>
            <a:pPr algn="just">
              <a:lnSpc>
                <a:spcPct val="100000"/>
              </a:lnSpc>
              <a:buFont typeface="Wingdings" panose="05000000000000000000" charset="0"/>
              <a:buChar char="§"/>
            </a:pPr>
            <a:r>
              <a:rPr lang="en-IN" sz="2400" dirty="0">
                <a:latin typeface="Times New Roman" panose="02020603050405020304" charset="0"/>
                <a:cs typeface="Times New Roman" panose="02020603050405020304" charset="0"/>
              </a:rPr>
              <a:t> Save time and effort by using one platform for both music and communication needs.</a:t>
            </a:r>
          </a:p>
        </p:txBody>
      </p:sp>
      <p:pic>
        <p:nvPicPr>
          <p:cNvPr id="2" name="Picture 1" descr="9290680"/>
          <p:cNvPicPr>
            <a:picLocks noChangeAspect="1"/>
          </p:cNvPicPr>
          <p:nvPr/>
        </p:nvPicPr>
        <p:blipFill>
          <a:blip r:embed="rId2"/>
          <a:stretch>
            <a:fillRect/>
          </a:stretch>
        </p:blipFill>
        <p:spPr>
          <a:xfrm>
            <a:off x="7752080" y="1816735"/>
            <a:ext cx="3808095" cy="3808095"/>
          </a:xfrm>
          <a:prstGeom prst="rect">
            <a:avLst/>
          </a:prstGeom>
          <a:ln>
            <a:solidFill>
              <a:schemeClr val="tx1"/>
            </a:solidFill>
          </a:ln>
          <a:effectLst>
            <a:softEdge rad="12700"/>
          </a:effectLst>
        </p:spPr>
      </p:pic>
    </p:spTree>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3885" y="581660"/>
            <a:ext cx="6382385" cy="1325880"/>
          </a:xfrm>
        </p:spPr>
        <p:txBody>
          <a:bodyPr/>
          <a:lstStyle/>
          <a:p>
            <a:pPr algn="ctr"/>
            <a:r>
              <a:rPr lang="en-US" b="1" dirty="0">
                <a:latin typeface="Times New Roman" panose="02020603050405020304" charset="0"/>
                <a:cs typeface="Times New Roman" panose="02020603050405020304" charset="0"/>
              </a:rPr>
              <a:t>Problem Statement:</a:t>
            </a:r>
          </a:p>
        </p:txBody>
      </p:sp>
      <p:sp>
        <p:nvSpPr>
          <p:cNvPr id="4" name="Content Placeholder 2"/>
          <p:cNvSpPr txBox="1"/>
          <p:nvPr/>
        </p:nvSpPr>
        <p:spPr>
          <a:xfrm>
            <a:off x="206674" y="1966706"/>
            <a:ext cx="6779596" cy="4891293"/>
          </a:xfrm>
          <a:prstGeom prst="rect">
            <a:avLst/>
          </a:prstGeom>
        </p:spPr>
        <p:txBody>
          <a:bodyPr vert="horz" lIns="91440" tIns="45720" rIns="91440" bIns="45720" rtlCol="0">
            <a:normAutofit fontScale="90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charset="0"/>
              <a:buChar char="v"/>
            </a:pPr>
            <a:r>
              <a:rPr lang="en-US" dirty="0">
                <a:latin typeface="Times New Roman" panose="02020603050405020304" charset="0"/>
                <a:cs typeface="Times New Roman" panose="02020603050405020304" charset="0"/>
              </a:rPr>
              <a:t>After Resso was banned, we found that there weren't any appealing alternatives. Spotify, while available, charged for its services and lacked certain features. </a:t>
            </a:r>
          </a:p>
          <a:p>
            <a:pPr>
              <a:buFont typeface="Wingdings" panose="05000000000000000000" charset="0"/>
              <a:buChar char="v"/>
            </a:pPr>
            <a:r>
              <a:rPr lang="en-US" dirty="0">
                <a:latin typeface="Times New Roman" panose="02020603050405020304" charset="0"/>
                <a:cs typeface="Times New Roman" panose="02020603050405020304" charset="0"/>
              </a:rPr>
              <a:t>The issue arose from the fact that people desired to chat and listen to music simultaneously, rather than switching between apps. </a:t>
            </a:r>
          </a:p>
          <a:p>
            <a:pPr>
              <a:buFont typeface="Wingdings" panose="05000000000000000000" charset="0"/>
              <a:buChar char="v"/>
            </a:pPr>
            <a:r>
              <a:rPr lang="en-US" dirty="0">
                <a:latin typeface="Times New Roman" panose="02020603050405020304" charset="0"/>
                <a:cs typeface="Times New Roman" panose="02020603050405020304" charset="0"/>
              </a:rPr>
              <a:t>Additionally, if they wanted to change the song, they had to call or message, disrupting the experience.</a:t>
            </a:r>
          </a:p>
          <a:p>
            <a:pPr>
              <a:buFont typeface="Wingdings" panose="05000000000000000000" charset="0"/>
              <a:buChar char="v"/>
            </a:pPr>
            <a:r>
              <a:rPr lang="en-US" dirty="0">
                <a:latin typeface="Times New Roman" panose="02020603050405020304" charset="0"/>
                <a:cs typeface="Times New Roman" panose="02020603050405020304" charset="0"/>
              </a:rPr>
              <a:t> Furthermore, existing apps automatically paused songs when making calls, making it challenging to use them effectively</a:t>
            </a:r>
          </a:p>
        </p:txBody>
      </p:sp>
      <p:pic>
        <p:nvPicPr>
          <p:cNvPr id="3" name="Content Placeholder 2" descr="angry"/>
          <p:cNvPicPr>
            <a:picLocks noGrp="1" noChangeAspect="1"/>
          </p:cNvPicPr>
          <p:nvPr>
            <p:ph idx="1"/>
          </p:nvPr>
        </p:nvPicPr>
        <p:blipFill>
          <a:blip r:embed="rId2"/>
          <a:stretch>
            <a:fillRect/>
          </a:stretch>
        </p:blipFill>
        <p:spPr>
          <a:xfrm>
            <a:off x="7167691" y="1966707"/>
            <a:ext cx="4925200" cy="2578399"/>
          </a:xfrm>
          <a:prstGeom prst="rect">
            <a:avLst/>
          </a:prstGeom>
          <a:ln>
            <a:solidFill>
              <a:schemeClr val="tx1"/>
            </a:solidFill>
          </a:ln>
        </p:spPr>
      </p:pic>
    </p:spTree>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charset="0"/>
                <a:cs typeface="Times New Roman" panose="02020603050405020304" charset="0"/>
              </a:rPr>
              <a:t>Objectives</a:t>
            </a:r>
          </a:p>
        </p:txBody>
      </p:sp>
      <p:sp>
        <p:nvSpPr>
          <p:cNvPr id="4" name="Content Placeholder 2"/>
          <p:cNvSpPr txBox="1"/>
          <p:nvPr/>
        </p:nvSpPr>
        <p:spPr>
          <a:xfrm>
            <a:off x="0" y="1384935"/>
            <a:ext cx="8044180" cy="5473700"/>
          </a:xfrm>
          <a:prstGeom prst="rect">
            <a:avLst/>
          </a:prstGeom>
        </p:spPr>
        <p:txBody>
          <a:bodyPr vert="horz" lIns="91440" tIns="45720" rIns="91440" bIns="45720" rtlCol="0">
            <a:normAutofit fontScale="97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anose="05000000000000000000" charset="0"/>
              <a:buChar char="v"/>
            </a:pPr>
            <a:r>
              <a:rPr lang="en-US" sz="2400" dirty="0"/>
              <a:t> Eliminate the need for users to switch between multiple apps by offering integrated</a:t>
            </a:r>
            <a:r>
              <a:rPr lang="en-US" sz="2400" dirty="0">
                <a:sym typeface="+mn-ea"/>
              </a:rPr>
              <a:t> music streaming and voice communication features into a unified platform.</a:t>
            </a:r>
          </a:p>
          <a:p>
            <a:pPr>
              <a:lnSpc>
                <a:spcPct val="150000"/>
              </a:lnSpc>
              <a:buFont typeface="Wingdings" panose="05000000000000000000" charset="0"/>
              <a:buChar char="v"/>
            </a:pPr>
            <a:r>
              <a:rPr lang="en-US" sz="2400" dirty="0"/>
              <a:t>Enhance user experience by providing </a:t>
            </a:r>
          </a:p>
          <a:p>
            <a:pPr marL="457200" indent="-457200">
              <a:lnSpc>
                <a:spcPct val="150000"/>
              </a:lnSpc>
              <a:buFont typeface="+mj-lt"/>
              <a:buAutoNum type="arabicPeriod"/>
            </a:pPr>
            <a:r>
              <a:rPr lang="en-US" sz="2400" dirty="0"/>
              <a:t>a extra additional volume beside the phone volume </a:t>
            </a:r>
          </a:p>
          <a:p>
            <a:pPr marL="457200" indent="-457200">
              <a:lnSpc>
                <a:spcPct val="150000"/>
              </a:lnSpc>
              <a:buFont typeface="+mj-lt"/>
              <a:buAutoNum type="arabicPeriod"/>
            </a:pPr>
            <a:r>
              <a:rPr lang="en-US" sz="2400" dirty="0"/>
              <a:t>audio quality and sound effect(bass booster,best fit,vocal booster)</a:t>
            </a:r>
          </a:p>
          <a:p>
            <a:pPr marL="457200" indent="-457200">
              <a:lnSpc>
                <a:spcPct val="150000"/>
              </a:lnSpc>
              <a:buFont typeface="+mj-lt"/>
              <a:buAutoNum type="arabicPeriod"/>
            </a:pPr>
            <a:r>
              <a:rPr lang="en-US" sz="2400" dirty="0"/>
              <a:t>lyrics and when displayed over other apps we can see lyrics is visible on the locked screen too</a:t>
            </a:r>
          </a:p>
          <a:p>
            <a:pPr marL="0" indent="0">
              <a:lnSpc>
                <a:spcPct val="150000"/>
              </a:lnSpc>
              <a:buNone/>
            </a:pPr>
            <a:endParaRPr lang="en-IN" sz="2400" dirty="0">
              <a:latin typeface="Times New Roman" panose="02020603050405020304" charset="0"/>
              <a:cs typeface="Times New Roman" panose="02020603050405020304" charset="0"/>
            </a:endParaRPr>
          </a:p>
        </p:txBody>
      </p:sp>
      <p:pic>
        <p:nvPicPr>
          <p:cNvPr id="3" name="Content Placeholder 2" descr="objective"/>
          <p:cNvPicPr>
            <a:picLocks noGrp="1" noChangeAspect="1"/>
          </p:cNvPicPr>
          <p:nvPr>
            <p:ph idx="1"/>
          </p:nvPr>
        </p:nvPicPr>
        <p:blipFill>
          <a:blip r:embed="rId2"/>
          <a:stretch>
            <a:fillRect/>
          </a:stretch>
        </p:blipFill>
        <p:spPr>
          <a:xfrm>
            <a:off x="7761605" y="1532255"/>
            <a:ext cx="4287520" cy="4351655"/>
          </a:xfrm>
          <a:prstGeom prst="rect">
            <a:avLst/>
          </a:prstGeom>
          <a:ln>
            <a:solidFill>
              <a:schemeClr val="tx1"/>
            </a:solidFill>
          </a:ln>
        </p:spPr>
      </p:pic>
    </p:spTree>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charset="0"/>
                <a:cs typeface="Times New Roman" panose="02020603050405020304" charset="0"/>
              </a:rPr>
              <a:t>Methodology</a:t>
            </a:r>
          </a:p>
        </p:txBody>
      </p:sp>
      <p:sp>
        <p:nvSpPr>
          <p:cNvPr id="4" name="Content Placeholder 2"/>
          <p:cNvSpPr txBox="1"/>
          <p:nvPr/>
        </p:nvSpPr>
        <p:spPr>
          <a:xfrm>
            <a:off x="0" y="1384935"/>
            <a:ext cx="11531600" cy="54737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anose="05000000000000000000" charset="0"/>
              <a:buChar char="v"/>
            </a:pPr>
            <a:r>
              <a:rPr lang="en-US" sz="1900" b="1" dirty="0">
                <a:latin typeface="Times New Roman" panose="02020603050405020304" charset="0"/>
                <a:cs typeface="Times New Roman" panose="02020603050405020304" charset="0"/>
              </a:rPr>
              <a:t> User Research</a:t>
            </a:r>
            <a:r>
              <a:rPr lang="en-US" sz="2500" dirty="0">
                <a:latin typeface="Times New Roman" panose="02020603050405020304" charset="0"/>
                <a:cs typeface="Times New Roman" panose="02020603050405020304" charset="0"/>
              </a:rPr>
              <a:t>: </a:t>
            </a:r>
            <a:r>
              <a:rPr lang="en-US" sz="1900" dirty="0">
                <a:latin typeface="Times New Roman" panose="02020603050405020304" charset="0"/>
                <a:cs typeface="Times New Roman" panose="02020603050405020304" charset="0"/>
              </a:rPr>
              <a:t>Conduct surveys, interviews, and usability tests to understand user preferences, behaviors, and pain points regarding music streaming and communication apps.</a:t>
            </a:r>
            <a:endParaRPr lang="en-US" sz="2500" dirty="0">
              <a:latin typeface="Times New Roman" panose="02020603050405020304" charset="0"/>
              <a:cs typeface="Times New Roman" panose="02020603050405020304" charset="0"/>
            </a:endParaRPr>
          </a:p>
          <a:p>
            <a:pPr>
              <a:lnSpc>
                <a:spcPct val="150000"/>
              </a:lnSpc>
              <a:buFont typeface="Wingdings" panose="05000000000000000000" charset="0"/>
              <a:buChar char="v"/>
            </a:pPr>
            <a:r>
              <a:rPr lang="en-IN" sz="1900" b="1" dirty="0">
                <a:latin typeface="Times New Roman" panose="02020603050405020304" charset="0"/>
                <a:cs typeface="Times New Roman" panose="02020603050405020304" charset="0"/>
              </a:rPr>
              <a:t>Feature Prioritization:</a:t>
            </a:r>
            <a:r>
              <a:rPr lang="en-IN" sz="1900" dirty="0">
                <a:latin typeface="Times New Roman" panose="02020603050405020304" charset="0"/>
                <a:cs typeface="Times New Roman" panose="02020603050405020304" charset="0"/>
              </a:rPr>
              <a:t> Prioritize features based on user feedback, market analysis, and technological feasibility, ensuring that TuneTalk addresses the most critical needs of its target audience.</a:t>
            </a:r>
          </a:p>
          <a:p>
            <a:pPr>
              <a:lnSpc>
                <a:spcPct val="150000"/>
              </a:lnSpc>
              <a:buFont typeface="Wingdings" panose="05000000000000000000" charset="0"/>
              <a:buChar char="v"/>
            </a:pPr>
            <a:r>
              <a:rPr lang="en-IN" sz="1900" b="1" dirty="0">
                <a:latin typeface="Times New Roman" panose="02020603050405020304" charset="0"/>
                <a:cs typeface="Times New Roman" panose="02020603050405020304" charset="0"/>
              </a:rPr>
              <a:t>Prototyping and Iterative Design:</a:t>
            </a:r>
            <a:r>
              <a:rPr lang="en-IN" sz="1900" dirty="0">
                <a:latin typeface="Times New Roman" panose="02020603050405020304" charset="0"/>
                <a:cs typeface="Times New Roman" panose="02020603050405020304" charset="0"/>
              </a:rPr>
              <a:t> Develop prototypes of TuneTalk's interface and functionality, and iterate based on user testing and feedback to refine the user experience and optimize usability.</a:t>
            </a:r>
          </a:p>
          <a:p>
            <a:pPr>
              <a:lnSpc>
                <a:spcPct val="150000"/>
              </a:lnSpc>
              <a:buFont typeface="Wingdings" panose="05000000000000000000" charset="0"/>
              <a:buChar char="v"/>
            </a:pPr>
            <a:r>
              <a:rPr lang="en-IN" sz="1900" b="1" dirty="0">
                <a:latin typeface="Times New Roman" panose="02020603050405020304" charset="0"/>
                <a:cs typeface="Times New Roman" panose="02020603050405020304" charset="0"/>
              </a:rPr>
              <a:t>Integration Testing</a:t>
            </a:r>
            <a:r>
              <a:rPr lang="en-IN" sz="1900" dirty="0">
                <a:latin typeface="Times New Roman" panose="02020603050405020304" charset="0"/>
                <a:cs typeface="Times New Roman" panose="02020603050405020304" charset="0"/>
              </a:rPr>
              <a:t>: Test the seamless integration of music streaming and voice communication features, ensuring smooth transitions between listening to music and engaging in voice calls or chats.</a:t>
            </a:r>
          </a:p>
          <a:p>
            <a:pPr>
              <a:lnSpc>
                <a:spcPct val="150000"/>
              </a:lnSpc>
              <a:buFont typeface="Wingdings" panose="05000000000000000000" charset="0"/>
              <a:buChar char="v"/>
            </a:pPr>
            <a:r>
              <a:rPr lang="en-IN" sz="1900" b="1" dirty="0">
                <a:latin typeface="Times New Roman" panose="02020603050405020304" charset="0"/>
                <a:cs typeface="Times New Roman" panose="02020603050405020304" charset="0"/>
              </a:rPr>
              <a:t>Pilot Launch and Evaluation: </a:t>
            </a:r>
            <a:r>
              <a:rPr lang="en-IN" sz="1900" dirty="0">
                <a:latin typeface="Times New Roman" panose="02020603050405020304" charset="0"/>
                <a:cs typeface="Times New Roman" panose="02020603050405020304" charset="0"/>
              </a:rPr>
              <a:t>Conduct a pilot launch of TuneTalk to a limited audience, gather feedback on performance, usability, and user satisfaction, and iterate on the product based on the results before a full-scale release.</a:t>
            </a:r>
          </a:p>
        </p:txBody>
      </p:sp>
    </p:spTree>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charset="0"/>
                <a:cs typeface="Times New Roman" panose="02020603050405020304" charset="0"/>
              </a:rPr>
              <a:t>Conclusion</a:t>
            </a:r>
          </a:p>
        </p:txBody>
      </p:sp>
      <p:sp>
        <p:nvSpPr>
          <p:cNvPr id="4" name="Content Placeholder 2"/>
          <p:cNvSpPr txBox="1"/>
          <p:nvPr/>
        </p:nvSpPr>
        <p:spPr>
          <a:xfrm>
            <a:off x="295910" y="1499235"/>
            <a:ext cx="7555230" cy="535876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60000"/>
              </a:lnSpc>
              <a:buFont typeface="Wingdings" panose="05000000000000000000" charset="0"/>
              <a:buChar char="Ø"/>
            </a:pPr>
            <a:r>
              <a:rPr lang="en-US" sz="2400"/>
              <a:t>TuneTalk aims to address the challenge of switching between multiple apps for communication and music streaming, TuneTalk simplifies the user experience and eliminates the hassle of toggling between different platforms.</a:t>
            </a:r>
          </a:p>
          <a:p>
            <a:pPr algn="just">
              <a:lnSpc>
                <a:spcPct val="160000"/>
              </a:lnSpc>
              <a:buFont typeface="Wingdings" panose="05000000000000000000" charset="0"/>
              <a:buChar char="Ø"/>
            </a:pPr>
            <a:r>
              <a:rPr lang="en-US" sz="2400"/>
              <a:t> Our solution offers a seamless and intuitive interface that enhances user convenience and satisfaction in the digital landscape</a:t>
            </a:r>
          </a:p>
        </p:txBody>
      </p:sp>
      <p:pic>
        <p:nvPicPr>
          <p:cNvPr id="3" name="Content Placeholder 2" descr="conc"/>
          <p:cNvPicPr>
            <a:picLocks noGrp="1" noChangeAspect="1"/>
          </p:cNvPicPr>
          <p:nvPr>
            <p:ph idx="1"/>
          </p:nvPr>
        </p:nvPicPr>
        <p:blipFill>
          <a:blip r:embed="rId2"/>
          <a:stretch>
            <a:fillRect/>
          </a:stretch>
        </p:blipFill>
        <p:spPr>
          <a:xfrm>
            <a:off x="8139430" y="2000885"/>
            <a:ext cx="3780790" cy="3780790"/>
          </a:xfrm>
          <a:prstGeom prst="rect">
            <a:avLst/>
          </a:prstGeom>
          <a:ln>
            <a:solidFill>
              <a:schemeClr val="tx1"/>
            </a:solidFill>
          </a:ln>
        </p:spPr>
      </p:pic>
    </p:spTree>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charset="0"/>
                <a:cs typeface="Times New Roman" panose="02020603050405020304" charset="0"/>
              </a:rPr>
              <a:t>References</a:t>
            </a:r>
          </a:p>
        </p:txBody>
      </p:sp>
      <p:sp>
        <p:nvSpPr>
          <p:cNvPr id="6" name="Content Placeholder 2"/>
          <p:cNvSpPr txBox="1"/>
          <p:nvPr/>
        </p:nvSpPr>
        <p:spPr>
          <a:xfrm>
            <a:off x="979170" y="1691005"/>
            <a:ext cx="5842000" cy="43516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buFont typeface="Wingdings" panose="05000000000000000000" charset="0"/>
              <a:buChar char="v"/>
            </a:pPr>
            <a:r>
              <a:rPr lang="en-US" altLang="en-IN" sz="2400" dirty="0">
                <a:latin typeface="Times New Roman" panose="02020603050405020304" charset="0"/>
                <a:cs typeface="Times New Roman" panose="02020603050405020304" charset="0"/>
              </a:rPr>
              <a:t>Resso and Spotify App</a:t>
            </a:r>
          </a:p>
          <a:p>
            <a:pPr algn="just">
              <a:lnSpc>
                <a:spcPct val="150000"/>
              </a:lnSpc>
              <a:buFont typeface="Wingdings" panose="05000000000000000000" charset="0"/>
              <a:buChar char="v"/>
            </a:pPr>
            <a:r>
              <a:rPr lang="en-US" altLang="en-IN" sz="2400" dirty="0">
                <a:latin typeface="Times New Roman" panose="02020603050405020304" charset="0"/>
                <a:cs typeface="Times New Roman" panose="02020603050405020304" charset="0"/>
              </a:rPr>
              <a:t>Discord App</a:t>
            </a:r>
          </a:p>
          <a:p>
            <a:pPr algn="just">
              <a:lnSpc>
                <a:spcPct val="150000"/>
              </a:lnSpc>
              <a:buFont typeface="Wingdings" panose="05000000000000000000" charset="0"/>
              <a:buChar char="v"/>
            </a:pPr>
            <a:r>
              <a:rPr lang="en-US" altLang="en-IN" sz="2400" dirty="0">
                <a:latin typeface="Times New Roman" panose="02020603050405020304" charset="0"/>
                <a:cs typeface="Times New Roman" panose="02020603050405020304" charset="0"/>
              </a:rPr>
              <a:t>https://www.sciencedirect.com/topics/computer-science/voice-communication</a:t>
            </a:r>
          </a:p>
          <a:p>
            <a:pPr algn="just">
              <a:lnSpc>
                <a:spcPct val="150000"/>
              </a:lnSpc>
              <a:buFont typeface="Wingdings" panose="05000000000000000000" charset="0"/>
              <a:buChar char="v"/>
            </a:pPr>
            <a:endParaRPr lang="en-US" altLang="en-IN" sz="2400" dirty="0">
              <a:latin typeface="Times New Roman" panose="02020603050405020304" charset="0"/>
              <a:cs typeface="Times New Roman" panose="02020603050405020304" charset="0"/>
            </a:endParaRPr>
          </a:p>
          <a:p>
            <a:pPr algn="just">
              <a:lnSpc>
                <a:spcPct val="150000"/>
              </a:lnSpc>
              <a:buFont typeface="Wingdings" panose="05000000000000000000" charset="0"/>
              <a:buChar char="v"/>
            </a:pPr>
            <a:endParaRPr lang="en-US" altLang="en-IN" sz="2400" dirty="0">
              <a:latin typeface="Times New Roman" panose="02020603050405020304" charset="0"/>
              <a:cs typeface="Times New Roman" panose="02020603050405020304" charset="0"/>
            </a:endParaRPr>
          </a:p>
        </p:txBody>
      </p:sp>
      <p:pic>
        <p:nvPicPr>
          <p:cNvPr id="3" name="Content Placeholder 2" descr="reference_cartoon"/>
          <p:cNvPicPr>
            <a:picLocks noGrp="1" noChangeAspect="1"/>
          </p:cNvPicPr>
          <p:nvPr>
            <p:ph idx="1"/>
          </p:nvPr>
        </p:nvPicPr>
        <p:blipFill>
          <a:blip r:embed="rId2"/>
          <a:stretch>
            <a:fillRect/>
          </a:stretch>
        </p:blipFill>
        <p:spPr>
          <a:xfrm>
            <a:off x="7501255" y="1400810"/>
            <a:ext cx="4046855" cy="4351655"/>
          </a:xfrm>
          <a:prstGeom prst="rect">
            <a:avLst/>
          </a:prstGeom>
          <a:ln>
            <a:solidFill>
              <a:schemeClr val="tx1"/>
            </a:solidFill>
          </a:ln>
        </p:spPr>
      </p:pic>
    </p:spTree>
  </p:cSld>
  <p:clrMapOvr>
    <a:masterClrMapping/>
  </p:clrMapOvr>
  <p:transition spd="slow">
    <p:push di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TotalTime>
  <Words>1192</Words>
  <Application>Microsoft Office PowerPoint</Application>
  <PresentationFormat>Widescreen</PresentationFormat>
  <Paragraphs>87</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Calibri</vt:lpstr>
      <vt:lpstr>Calibri Light</vt:lpstr>
      <vt:lpstr>Garamond</vt:lpstr>
      <vt:lpstr>Times New Roman</vt:lpstr>
      <vt:lpstr>Wingdings</vt:lpstr>
      <vt:lpstr>Office Theme</vt:lpstr>
      <vt:lpstr>SMART INDIA HACKATHON 2024</vt:lpstr>
      <vt:lpstr>Agenda</vt:lpstr>
      <vt:lpstr>Introduction</vt:lpstr>
      <vt:lpstr>Team Size</vt:lpstr>
      <vt:lpstr>Importance</vt:lpstr>
      <vt:lpstr>Literature Survey</vt:lpstr>
      <vt:lpstr>Research Gap</vt:lpstr>
      <vt:lpstr>Motivation</vt:lpstr>
      <vt:lpstr>Problem Statement:</vt:lpstr>
      <vt:lpstr>Objectives</vt:lpstr>
      <vt:lpstr>Methodology</vt:lpstr>
      <vt:lpstr>Conclusion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 Tech Major Project Evaluation-0 Project Title Approval VI Sem</dc:title>
  <dc:creator>Author</dc:creator>
  <cp:lastModifiedBy>Viney Chhillar</cp:lastModifiedBy>
  <cp:revision>27</cp:revision>
  <dcterms:created xsi:type="dcterms:W3CDTF">2024-04-05T05:13:00Z</dcterms:created>
  <dcterms:modified xsi:type="dcterms:W3CDTF">2024-08-30T18:34:28Z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5B6EF186B1814B6DBDC8823D10D9D020_13</vt:lpwstr>
  </property>
  <property fmtid="{D5CDD505-2E9C-101B-9397-08002B2CF9AE}" pid="3" name="KSOProductBuildVer">
    <vt:lpwstr>1033-12.2.0.16731</vt:lpwstr>
  </property>
</Properties>
</file>